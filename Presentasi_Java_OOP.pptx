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45" r:id="rId1"/>
  </p:sldMasterIdLst>
  <p:sldIdLst>
    <p:sldId id="268" r:id="rId2"/>
    <p:sldId id="270" r:id="rId3"/>
    <p:sldId id="257" r:id="rId4"/>
    <p:sldId id="274" r:id="rId5"/>
    <p:sldId id="269" r:id="rId6"/>
    <p:sldId id="271" r:id="rId7"/>
    <p:sldId id="272" r:id="rId8"/>
    <p:sldId id="275" r:id="rId9"/>
    <p:sldId id="273" r:id="rId10"/>
  </p:sldIdLst>
  <p:sldSz cx="18288000" cy="10287000"/>
  <p:notesSz cx="6858000" cy="9144000"/>
  <p:embeddedFontLst>
    <p:embeddedFont>
      <p:font typeface="DM Sans" panose="020B0604020202020204" charset="0"/>
      <p:regular r:id="rId11"/>
    </p:embeddedFont>
    <p:embeddedFont>
      <p:font typeface="Gill Sans MT" panose="020B0502020104020203" pitchFamily="34" charset="0"/>
      <p:regular r:id="rId12"/>
      <p:bold r:id="rId13"/>
      <p:italic r:id="rId14"/>
      <p:boldItalic r:id="rId15"/>
    </p:embeddedFont>
    <p:embeddedFont>
      <p:font typeface="Verdana" panose="020B0604030504040204" pitchFamily="34" charset="0"/>
      <p:regular r:id="rId16"/>
      <p:bold r:id="rId17"/>
      <p:italic r:id="rId18"/>
      <p:boldItalic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9319" autoAdjust="0"/>
  </p:normalViewPr>
  <p:slideViewPr>
    <p:cSldViewPr>
      <p:cViewPr varScale="1">
        <p:scale>
          <a:sx n="43" d="100"/>
          <a:sy n="43" d="100"/>
        </p:scale>
        <p:origin x="93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26669" y="1203448"/>
            <a:ext cx="12955610" cy="3812147"/>
          </a:xfrm>
        </p:spPr>
        <p:txBody>
          <a:bodyPr bIns="0" anchor="b">
            <a:normAutofit/>
          </a:bodyPr>
          <a:lstStyle>
            <a:lvl1pPr algn="l">
              <a:defRPr sz="9900"/>
            </a:lvl1pPr>
          </a:lstStyle>
          <a:p>
            <a:r>
              <a:rPr lang="en-US"/>
              <a:t>Click to edit Master title style</a:t>
            </a:r>
            <a:endParaRPr lang="en-US" dirty="0"/>
          </a:p>
        </p:txBody>
      </p:sp>
      <p:sp>
        <p:nvSpPr>
          <p:cNvPr id="3" name="Subtitle 2"/>
          <p:cNvSpPr>
            <a:spLocks noGrp="1"/>
          </p:cNvSpPr>
          <p:nvPr>
            <p:ph type="subTitle" idx="1"/>
          </p:nvPr>
        </p:nvSpPr>
        <p:spPr>
          <a:xfrm>
            <a:off x="3626670" y="5296807"/>
            <a:ext cx="12955608" cy="1466432"/>
          </a:xfrm>
        </p:spPr>
        <p:txBody>
          <a:bodyPr tIns="91440" bIns="91440">
            <a:normAutofit/>
          </a:bodyPr>
          <a:lstStyle>
            <a:lvl1pPr marL="0" indent="0" algn="l">
              <a:buNone/>
              <a:defRPr sz="2700" b="0" cap="all" baseline="0">
                <a:solidFill>
                  <a:schemeClr val="tx1"/>
                </a:solidFill>
              </a:defRPr>
            </a:lvl1pPr>
            <a:lvl2pPr marL="685800" indent="0" algn="ctr">
              <a:buNone/>
              <a:defRPr sz="27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7/12/2021</a:t>
            </a:fld>
            <a:endParaRPr lang="en-US"/>
          </a:p>
        </p:txBody>
      </p:sp>
      <p:sp>
        <p:nvSpPr>
          <p:cNvPr id="5" name="Footer Placeholder 4"/>
          <p:cNvSpPr>
            <a:spLocks noGrp="1"/>
          </p:cNvSpPr>
          <p:nvPr>
            <p:ph type="ftr" sz="quarter" idx="11"/>
          </p:nvPr>
        </p:nvSpPr>
        <p:spPr>
          <a:xfrm>
            <a:off x="3624751" y="493961"/>
            <a:ext cx="7460873" cy="463802"/>
          </a:xfrm>
        </p:spPr>
        <p:txBody>
          <a:bodyPr/>
          <a:lstStyle/>
          <a:p>
            <a:endParaRPr lang="en-US"/>
          </a:p>
        </p:txBody>
      </p:sp>
      <p:sp>
        <p:nvSpPr>
          <p:cNvPr id="6" name="Slide Number Placeholder 5"/>
          <p:cNvSpPr>
            <a:spLocks noGrp="1"/>
          </p:cNvSpPr>
          <p:nvPr>
            <p:ph type="sldNum" sz="quarter" idx="12"/>
          </p:nvPr>
        </p:nvSpPr>
        <p:spPr>
          <a:xfrm>
            <a:off x="2156497" y="1198460"/>
            <a:ext cx="1216529" cy="755367"/>
          </a:xfrm>
        </p:spPr>
        <p:txBody>
          <a:bodyPr/>
          <a:lstStyle/>
          <a:p>
            <a:fld id="{B6F15528-21DE-4FAA-801E-634DDDAF4B2B}" type="slidenum">
              <a:rPr lang="en-US" smtClean="0"/>
              <a:pPr/>
              <a:t>‹#›</a:t>
            </a:fld>
            <a:endParaRPr lang="en-US"/>
          </a:p>
        </p:txBody>
      </p:sp>
      <p:cxnSp>
        <p:nvCxnSpPr>
          <p:cNvPr id="15" name="Straight Connector 14"/>
          <p:cNvCxnSpPr/>
          <p:nvPr/>
        </p:nvCxnSpPr>
        <p:spPr>
          <a:xfrm>
            <a:off x="3626670" y="5292813"/>
            <a:ext cx="1295560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91353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33" name="Straight Connector 32"/>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96904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81359" y="2634195"/>
            <a:ext cx="12964731" cy="2831925"/>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2181359" y="5709293"/>
            <a:ext cx="12945669" cy="1519394"/>
          </a:xfrm>
        </p:spPr>
        <p:txBody>
          <a:bodyPr tIns="91440">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2181359" y="5707478"/>
            <a:ext cx="1294566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73293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73826" y="1207334"/>
            <a:ext cx="14408453" cy="158895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170997" y="3016318"/>
            <a:ext cx="6967728" cy="51728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620657" y="3026015"/>
            <a:ext cx="6967728" cy="5162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7/12/2021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35" name="Straight Connector 3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1820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0787" y="1206245"/>
            <a:ext cx="14411492" cy="15844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70787" y="3029324"/>
            <a:ext cx="6967728" cy="1202915"/>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170787" y="4236404"/>
            <a:ext cx="6967728" cy="39666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18543" y="3034505"/>
            <a:ext cx="6967728" cy="1203356"/>
          </a:xfrm>
        </p:spPr>
        <p:txBody>
          <a:bodyPr anchor="b">
            <a:normAutofit/>
          </a:bodyPr>
          <a:lstStyle>
            <a:lvl1pPr marL="0" indent="0">
              <a:lnSpc>
                <a:spcPct val="100000"/>
              </a:lnSpc>
              <a:buNone/>
              <a:defRPr sz="3300" b="0" cap="all"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618543" y="4232237"/>
            <a:ext cx="6967728" cy="3956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7/12/2021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29" name="Straight Connector 28"/>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69259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7/12/2021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25" name="Straight Connector 24"/>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63782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576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7007" y="1198460"/>
            <a:ext cx="4909649" cy="3370676"/>
          </a:xfrm>
        </p:spPr>
        <p:txBody>
          <a:bodyPr anchor="b">
            <a:normAutofit/>
          </a:bodyPr>
          <a:lstStyle>
            <a:lvl1pPr algn="l">
              <a:defRPr sz="3600"/>
            </a:lvl1pPr>
          </a:lstStyle>
          <a:p>
            <a:r>
              <a:rPr lang="en-US"/>
              <a:t>Click to edit Master title style</a:t>
            </a:r>
            <a:endParaRPr lang="en-US" dirty="0"/>
          </a:p>
        </p:txBody>
      </p:sp>
      <p:sp>
        <p:nvSpPr>
          <p:cNvPr id="3" name="Content Placeholder 2"/>
          <p:cNvSpPr>
            <a:spLocks noGrp="1"/>
          </p:cNvSpPr>
          <p:nvPr>
            <p:ph idx="1"/>
          </p:nvPr>
        </p:nvSpPr>
        <p:spPr>
          <a:xfrm>
            <a:off x="7565571" y="1198461"/>
            <a:ext cx="9018705" cy="69882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67007" y="4808237"/>
            <a:ext cx="4912520" cy="3372272"/>
          </a:xfrm>
        </p:spPr>
        <p:txBody>
          <a:bodyPr/>
          <a:lstStyle>
            <a:lvl1pPr marL="0" indent="0" algn="l">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17" name="Straight Connector 16"/>
          <p:cNvCxnSpPr/>
          <p:nvPr/>
        </p:nvCxnSpPr>
        <p:spPr>
          <a:xfrm>
            <a:off x="2172420" y="4808237"/>
            <a:ext cx="49042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9141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1216081" y="723256"/>
            <a:ext cx="6111800" cy="7723652"/>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2176809" y="1694270"/>
            <a:ext cx="8298492" cy="2745876"/>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186584" y="1683814"/>
            <a:ext cx="4186757" cy="5799491"/>
          </a:xfrm>
          <a:solidFill>
            <a:schemeClr val="bg1">
              <a:lumMod val="85000"/>
            </a:schemeClr>
          </a:solidFill>
          <a:ln w="9525" cap="sq">
            <a:noFill/>
            <a:miter lim="800000"/>
          </a:ln>
          <a:effectLst/>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2175494" y="4718988"/>
            <a:ext cx="8286606" cy="3005613"/>
          </a:xfrm>
        </p:spPr>
        <p:txBody>
          <a:bodyPr>
            <a:normAutofit/>
          </a:bodyPr>
          <a:lstStyle>
            <a:lvl1pPr marL="0" indent="0" algn="l">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a:xfrm>
            <a:off x="2171074" y="8204785"/>
            <a:ext cx="8291027" cy="480185"/>
          </a:xfrm>
        </p:spPr>
        <p:txBody>
          <a:bodyPr/>
          <a:lstStyle>
            <a:lvl1pPr algn="l">
              <a:defRPr/>
            </a:lvl1pPr>
          </a:lstStyle>
          <a:p>
            <a:fld id="{1D8BD707-D9CF-40AE-B4C6-C98DA3205C09}" type="datetimeFigureOut">
              <a:rPr lang="en-US" smtClean="0"/>
              <a:pPr/>
              <a:t>7/12/2021</a:t>
            </a:fld>
            <a:endParaRPr lang="en-US"/>
          </a:p>
        </p:txBody>
      </p:sp>
      <p:sp>
        <p:nvSpPr>
          <p:cNvPr id="6" name="Footer Placeholder 5"/>
          <p:cNvSpPr>
            <a:spLocks noGrp="1"/>
          </p:cNvSpPr>
          <p:nvPr>
            <p:ph type="ftr" sz="quarter" idx="11"/>
          </p:nvPr>
        </p:nvSpPr>
        <p:spPr>
          <a:xfrm>
            <a:off x="2171073" y="477961"/>
            <a:ext cx="8311506" cy="481397"/>
          </a:xfrm>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31" name="Straight Connector 30"/>
          <p:cNvCxnSpPr/>
          <p:nvPr/>
        </p:nvCxnSpPr>
        <p:spPr>
          <a:xfrm>
            <a:off x="2171074" y="4715408"/>
            <a:ext cx="8291027"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5187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26" name="Straight Connector 25"/>
          <p:cNvCxnSpPr/>
          <p:nvPr/>
        </p:nvCxnSpPr>
        <p:spPr>
          <a:xfrm>
            <a:off x="2180844" y="2770632"/>
            <a:ext cx="1441128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0957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158667" y="1198460"/>
            <a:ext cx="2423613" cy="6989834"/>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167008" y="1198460"/>
            <a:ext cx="11743245" cy="69898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4158667" y="1198460"/>
            <a:ext cx="0" cy="6989834"/>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76871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3029215"/>
            <a:ext cx="18288000" cy="6158912"/>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9189720"/>
            <a:ext cx="18288000" cy="1114425"/>
          </a:xfrm>
          <a:prstGeom prst="rect">
            <a:avLst/>
          </a:prstGeom>
        </p:spPr>
      </p:pic>
      <p:sp>
        <p:nvSpPr>
          <p:cNvPr id="2" name="Title Placeholder 1"/>
          <p:cNvSpPr>
            <a:spLocks noGrp="1"/>
          </p:cNvSpPr>
          <p:nvPr>
            <p:ph type="title"/>
          </p:nvPr>
        </p:nvSpPr>
        <p:spPr>
          <a:xfrm>
            <a:off x="2177369" y="1206779"/>
            <a:ext cx="14404913" cy="157385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77369" y="3023599"/>
            <a:ext cx="14404913" cy="5175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31208" y="495555"/>
            <a:ext cx="5251073" cy="463802"/>
          </a:xfrm>
          <a:prstGeom prst="rect">
            <a:avLst/>
          </a:prstGeom>
        </p:spPr>
        <p:txBody>
          <a:bodyPr vert="horz" lIns="91440" tIns="45720" rIns="91440" bIns="45720" rtlCol="0" anchor="ctr"/>
          <a:lstStyle>
            <a:lvl1pPr algn="r">
              <a:defRPr sz="1500">
                <a:solidFill>
                  <a:schemeClr val="tx1">
                    <a:tint val="75000"/>
                  </a:schemeClr>
                </a:solidFill>
              </a:defRPr>
            </a:lvl1pPr>
          </a:lstStyle>
          <a:p>
            <a:fld id="{1D8BD707-D9CF-40AE-B4C6-C98DA3205C09}" type="datetimeFigureOut">
              <a:rPr lang="en-US" smtClean="0"/>
              <a:pPr/>
              <a:t>7/12/2021</a:t>
            </a:fld>
            <a:endParaRPr lang="en-US"/>
          </a:p>
        </p:txBody>
      </p:sp>
      <p:sp>
        <p:nvSpPr>
          <p:cNvPr id="5" name="Footer Placeholder 4"/>
          <p:cNvSpPr>
            <a:spLocks noGrp="1"/>
          </p:cNvSpPr>
          <p:nvPr>
            <p:ph type="ftr" sz="quarter" idx="3"/>
          </p:nvPr>
        </p:nvSpPr>
        <p:spPr>
          <a:xfrm>
            <a:off x="2177369" y="493961"/>
            <a:ext cx="8908254" cy="463802"/>
          </a:xfrm>
          <a:prstGeom prst="rect">
            <a:avLst/>
          </a:prstGeom>
        </p:spPr>
        <p:txBody>
          <a:bodyPr vert="horz" lIns="91440" tIns="45720" rIns="91440" bIns="45720" rtlCol="0" anchor="ctr"/>
          <a:lstStyle>
            <a:lvl1pPr algn="l">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0091" y="1198460"/>
            <a:ext cx="1216529" cy="755367"/>
          </a:xfrm>
          <a:prstGeom prst="rect">
            <a:avLst/>
          </a:prstGeom>
        </p:spPr>
        <p:txBody>
          <a:bodyPr vert="horz" lIns="91440" tIns="45720" rIns="91440" bIns="45720" rtlCol="0" anchor="t"/>
          <a:lstStyle>
            <a:lvl1pPr algn="r">
              <a:defRPr sz="4200">
                <a:solidFill>
                  <a:schemeClr val="accent1"/>
                </a:solidFill>
              </a:defRPr>
            </a:lvl1pPr>
          </a:lstStyle>
          <a:p>
            <a:fld id="{B6F15528-21DE-4FAA-801E-634DDDAF4B2B}" type="slidenum">
              <a:rPr lang="en-US" smtClean="0"/>
              <a:pPr/>
              <a:t>‹#›</a:t>
            </a:fld>
            <a:endParaRPr lang="en-US"/>
          </a:p>
        </p:txBody>
      </p:sp>
      <p:cxnSp>
        <p:nvCxnSpPr>
          <p:cNvPr id="10" name="Straight Connector 9"/>
          <p:cNvCxnSpPr/>
          <p:nvPr/>
        </p:nvCxnSpPr>
        <p:spPr>
          <a:xfrm>
            <a:off x="0" y="9192620"/>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0386795"/>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Lst>
  <p:txStyles>
    <p:titleStyle>
      <a:lvl1pPr algn="l" defTabSz="1371600" rtl="0" eaLnBrk="1" latinLnBrk="0" hangingPunct="1">
        <a:lnSpc>
          <a:spcPct val="90000"/>
        </a:lnSpc>
        <a:spcBef>
          <a:spcPct val="0"/>
        </a:spcBef>
        <a:buNone/>
        <a:defRPr sz="4800" b="0" i="0" kern="1200" cap="all">
          <a:solidFill>
            <a:schemeClr val="tx1"/>
          </a:solidFill>
          <a:effectLst/>
          <a:latin typeface="+mj-lt"/>
          <a:ea typeface="+mj-ea"/>
          <a:cs typeface="+mj-cs"/>
        </a:defRPr>
      </a:lvl1pPr>
    </p:titleStyle>
    <p:bodyStyle>
      <a:lvl1pPr marL="342900" indent="-342900" algn="l" defTabSz="1371600" rtl="0" eaLnBrk="1" latinLnBrk="0" hangingPunct="1">
        <a:lnSpc>
          <a:spcPct val="120000"/>
        </a:lnSpc>
        <a:spcBef>
          <a:spcPts val="1500"/>
        </a:spcBef>
        <a:buClr>
          <a:schemeClr val="accent1"/>
        </a:buClr>
        <a:buSzPct val="100000"/>
        <a:buFont typeface="Arial" panose="020B0604020202020204" pitchFamily="34" charset="0"/>
        <a:buChar char="•"/>
        <a:defRPr sz="3000" kern="1200">
          <a:solidFill>
            <a:schemeClr val="tx1"/>
          </a:solidFill>
          <a:effectLst/>
          <a:latin typeface="+mn-lt"/>
          <a:ea typeface="+mn-ea"/>
          <a:cs typeface="+mn-cs"/>
        </a:defRPr>
      </a:lvl1pPr>
      <a:lvl2pPr marL="1028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700" kern="1200" cap="none" baseline="0">
          <a:solidFill>
            <a:schemeClr val="tx1"/>
          </a:solidFill>
          <a:effectLst/>
          <a:latin typeface="+mn-lt"/>
          <a:ea typeface="+mn-ea"/>
          <a:cs typeface="+mn-cs"/>
        </a:defRPr>
      </a:lvl2pPr>
      <a:lvl3pPr marL="1714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2400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100" kern="1200" cap="none" baseline="0">
          <a:solidFill>
            <a:schemeClr val="tx1"/>
          </a:solidFill>
          <a:effectLst/>
          <a:latin typeface="+mn-lt"/>
          <a:ea typeface="+mn-ea"/>
          <a:cs typeface="+mn-cs"/>
        </a:defRPr>
      </a:lvl4pPr>
      <a:lvl5pPr marL="30861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5pPr>
      <a:lvl6pPr marL="37719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6pPr>
      <a:lvl7pPr marL="4457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7pPr>
      <a:lvl8pPr marL="5143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8pPr>
      <a:lvl9pPr marL="5829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www.bahasajava.com/2017/04/belajar-java-class-dan-objek.html"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24C7F-7609-40E1-BE49-327242EB7BD8}"/>
              </a:ext>
            </a:extLst>
          </p:cNvPr>
          <p:cNvSpPr>
            <a:spLocks noGrp="1"/>
          </p:cNvSpPr>
          <p:nvPr>
            <p:ph type="ctrTitle"/>
          </p:nvPr>
        </p:nvSpPr>
        <p:spPr>
          <a:xfrm>
            <a:off x="762000" y="541930"/>
            <a:ext cx="7772400" cy="1031875"/>
          </a:xfrm>
        </p:spPr>
        <p:txBody>
          <a:bodyPr>
            <a:normAutofit/>
          </a:bodyPr>
          <a:lstStyle/>
          <a:p>
            <a:r>
              <a:rPr lang="en-US" sz="4400" dirty="0"/>
              <a:t>Abstract</a:t>
            </a:r>
          </a:p>
        </p:txBody>
      </p:sp>
      <p:sp>
        <p:nvSpPr>
          <p:cNvPr id="3" name="Subtitle 2">
            <a:extLst>
              <a:ext uri="{FF2B5EF4-FFF2-40B4-BE49-F238E27FC236}">
                <a16:creationId xmlns:a16="http://schemas.microsoft.com/office/drawing/2014/main" id="{29BBD168-482F-476B-9AEC-33E7D8535E22}"/>
              </a:ext>
            </a:extLst>
          </p:cNvPr>
          <p:cNvSpPr>
            <a:spLocks noGrp="1"/>
          </p:cNvSpPr>
          <p:nvPr>
            <p:ph type="subTitle" idx="1"/>
          </p:nvPr>
        </p:nvSpPr>
        <p:spPr>
          <a:xfrm>
            <a:off x="419100" y="2061671"/>
            <a:ext cx="7086600" cy="2476500"/>
          </a:xfrm>
        </p:spPr>
        <p:txBody>
          <a:bodyPr>
            <a:normAutofit fontScale="85000" lnSpcReduction="10000"/>
          </a:bodyPr>
          <a:lstStyle/>
          <a:p>
            <a:pPr algn="just"/>
            <a:r>
              <a:rPr lang="en-US" dirty="0" err="1">
                <a:solidFill>
                  <a:schemeClr val="tx1"/>
                </a:solidFill>
              </a:rPr>
              <a:t>Abstarct</a:t>
            </a:r>
            <a:r>
              <a:rPr lang="en-US" dirty="0">
                <a:solidFill>
                  <a:schemeClr val="tx1"/>
                </a:solidFill>
              </a:rPr>
              <a:t> </a:t>
            </a:r>
            <a:r>
              <a:rPr lang="en-US" dirty="0" err="1">
                <a:solidFill>
                  <a:schemeClr val="tx1"/>
                </a:solidFill>
              </a:rPr>
              <a:t>tidak</a:t>
            </a:r>
            <a:r>
              <a:rPr lang="en-US" dirty="0">
                <a:solidFill>
                  <a:schemeClr val="tx1"/>
                </a:solidFill>
              </a:rPr>
              <a:t> </a:t>
            </a:r>
            <a:r>
              <a:rPr lang="en-US" dirty="0" err="1">
                <a:solidFill>
                  <a:schemeClr val="tx1"/>
                </a:solidFill>
              </a:rPr>
              <a:t>menyediakan</a:t>
            </a:r>
            <a:r>
              <a:rPr lang="en-US" dirty="0">
                <a:solidFill>
                  <a:schemeClr val="tx1"/>
                </a:solidFill>
              </a:rPr>
              <a:t> detail </a:t>
            </a:r>
            <a:r>
              <a:rPr lang="en-US" dirty="0" err="1">
                <a:solidFill>
                  <a:schemeClr val="tx1"/>
                </a:solidFill>
              </a:rPr>
              <a:t>informasi</a:t>
            </a:r>
            <a:r>
              <a:rPr lang="en-US" dirty="0">
                <a:solidFill>
                  <a:schemeClr val="tx1"/>
                </a:solidFill>
              </a:rPr>
              <a:t>. Abstract Class </a:t>
            </a:r>
            <a:r>
              <a:rPr lang="en-US" dirty="0" err="1">
                <a:solidFill>
                  <a:schemeClr val="tx1"/>
                </a:solidFill>
              </a:rPr>
              <a:t>tidak</a:t>
            </a:r>
            <a:r>
              <a:rPr lang="en-US" dirty="0">
                <a:solidFill>
                  <a:schemeClr val="tx1"/>
                </a:solidFill>
              </a:rPr>
              <a:t> </a:t>
            </a:r>
            <a:r>
              <a:rPr lang="en-US" dirty="0" err="1">
                <a:solidFill>
                  <a:schemeClr val="tx1"/>
                </a:solidFill>
              </a:rPr>
              <a:t>dapat</a:t>
            </a:r>
            <a:r>
              <a:rPr lang="en-US" dirty="0">
                <a:solidFill>
                  <a:schemeClr val="tx1"/>
                </a:solidFill>
              </a:rPr>
              <a:t> </a:t>
            </a:r>
            <a:r>
              <a:rPr lang="en-US" dirty="0" err="1">
                <a:solidFill>
                  <a:schemeClr val="tx1"/>
                </a:solidFill>
              </a:rPr>
              <a:t>dibuatkan</a:t>
            </a:r>
            <a:r>
              <a:rPr lang="en-US" dirty="0">
                <a:solidFill>
                  <a:schemeClr val="tx1"/>
                </a:solidFill>
              </a:rPr>
              <a:t> </a:t>
            </a:r>
            <a:r>
              <a:rPr lang="en-US" dirty="0" err="1">
                <a:solidFill>
                  <a:schemeClr val="tx1"/>
                </a:solidFill>
              </a:rPr>
              <a:t>objectnya</a:t>
            </a:r>
            <a:r>
              <a:rPr lang="en-US" dirty="0">
                <a:solidFill>
                  <a:schemeClr val="tx1"/>
                </a:solidFill>
              </a:rPr>
              <a:t> </a:t>
            </a:r>
            <a:r>
              <a:rPr lang="en-US" dirty="0" err="1">
                <a:solidFill>
                  <a:schemeClr val="tx1"/>
                </a:solidFill>
              </a:rPr>
              <a:t>secara</a:t>
            </a:r>
            <a:r>
              <a:rPr lang="en-US" dirty="0">
                <a:solidFill>
                  <a:schemeClr val="tx1"/>
                </a:solidFill>
              </a:rPr>
              <a:t> </a:t>
            </a:r>
            <a:r>
              <a:rPr lang="en-US" dirty="0" err="1">
                <a:solidFill>
                  <a:schemeClr val="tx1"/>
                </a:solidFill>
              </a:rPr>
              <a:t>langsung</a:t>
            </a:r>
            <a:r>
              <a:rPr lang="en-US" dirty="0">
                <a:solidFill>
                  <a:schemeClr val="tx1"/>
                </a:solidFill>
              </a:rPr>
              <a:t>. </a:t>
            </a:r>
          </a:p>
          <a:p>
            <a:pPr algn="just"/>
            <a:r>
              <a:rPr lang="en-US" dirty="0">
                <a:solidFill>
                  <a:schemeClr val="tx1"/>
                </a:solidFill>
              </a:rPr>
              <a:t>Abstract class </a:t>
            </a:r>
            <a:r>
              <a:rPr lang="en-US" dirty="0" err="1">
                <a:solidFill>
                  <a:schemeClr val="tx1"/>
                </a:solidFill>
              </a:rPr>
              <a:t>hanya</a:t>
            </a:r>
            <a:r>
              <a:rPr lang="en-US" dirty="0">
                <a:solidFill>
                  <a:schemeClr val="tx1"/>
                </a:solidFill>
              </a:rPr>
              <a:t> </a:t>
            </a:r>
            <a:r>
              <a:rPr lang="en-US" dirty="0" err="1">
                <a:solidFill>
                  <a:schemeClr val="tx1"/>
                </a:solidFill>
              </a:rPr>
              <a:t>bisa</a:t>
            </a:r>
            <a:r>
              <a:rPr lang="en-US" dirty="0">
                <a:solidFill>
                  <a:schemeClr val="tx1"/>
                </a:solidFill>
              </a:rPr>
              <a:t> </a:t>
            </a:r>
            <a:r>
              <a:rPr lang="en-US" dirty="0" err="1">
                <a:solidFill>
                  <a:schemeClr val="tx1"/>
                </a:solidFill>
              </a:rPr>
              <a:t>diturunkan</a:t>
            </a:r>
            <a:r>
              <a:rPr lang="en-US" dirty="0">
                <a:solidFill>
                  <a:schemeClr val="tx1"/>
                </a:solidFill>
              </a:rPr>
              <a:t>.</a:t>
            </a:r>
          </a:p>
          <a:p>
            <a:pPr algn="just"/>
            <a:r>
              <a:rPr lang="en-US" dirty="0" err="1"/>
              <a:t>Biasanya</a:t>
            </a:r>
            <a:r>
              <a:rPr lang="en-US" dirty="0"/>
              <a:t> abstract </a:t>
            </a:r>
            <a:r>
              <a:rPr lang="en-US" dirty="0" err="1"/>
              <a:t>akan</a:t>
            </a:r>
            <a:r>
              <a:rPr lang="en-US" dirty="0"/>
              <a:t> </a:t>
            </a:r>
            <a:r>
              <a:rPr lang="en-US" dirty="0" err="1"/>
              <a:t>menjadi</a:t>
            </a:r>
            <a:r>
              <a:rPr lang="en-US" dirty="0"/>
              <a:t> class </a:t>
            </a:r>
            <a:r>
              <a:rPr lang="en-US" dirty="0" err="1"/>
              <a:t>induk</a:t>
            </a:r>
            <a:endParaRPr lang="en-US" dirty="0">
              <a:solidFill>
                <a:schemeClr val="tx1"/>
              </a:solidFill>
            </a:endParaRPr>
          </a:p>
        </p:txBody>
      </p:sp>
      <p:sp>
        <p:nvSpPr>
          <p:cNvPr id="4" name="Subtitle 2">
            <a:extLst>
              <a:ext uri="{FF2B5EF4-FFF2-40B4-BE49-F238E27FC236}">
                <a16:creationId xmlns:a16="http://schemas.microsoft.com/office/drawing/2014/main" id="{702754EB-FF16-4B4F-956F-E52AE00D8769}"/>
              </a:ext>
            </a:extLst>
          </p:cNvPr>
          <p:cNvSpPr txBox="1">
            <a:spLocks/>
          </p:cNvSpPr>
          <p:nvPr/>
        </p:nvSpPr>
        <p:spPr>
          <a:xfrm>
            <a:off x="8839200" y="3543300"/>
            <a:ext cx="6858000" cy="43815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dirty="0"/>
          </a:p>
        </p:txBody>
      </p:sp>
      <p:sp>
        <p:nvSpPr>
          <p:cNvPr id="5" name="Subtitle 2">
            <a:extLst>
              <a:ext uri="{FF2B5EF4-FFF2-40B4-BE49-F238E27FC236}">
                <a16:creationId xmlns:a16="http://schemas.microsoft.com/office/drawing/2014/main" id="{FDACBF0E-1912-4A06-8443-769DFB243CAB}"/>
              </a:ext>
            </a:extLst>
          </p:cNvPr>
          <p:cNvSpPr txBox="1">
            <a:spLocks/>
          </p:cNvSpPr>
          <p:nvPr/>
        </p:nvSpPr>
        <p:spPr>
          <a:xfrm>
            <a:off x="7467600" y="4000500"/>
            <a:ext cx="6858000" cy="43815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dirty="0"/>
          </a:p>
        </p:txBody>
      </p:sp>
      <p:sp>
        <p:nvSpPr>
          <p:cNvPr id="6" name="Subtitle 2">
            <a:extLst>
              <a:ext uri="{FF2B5EF4-FFF2-40B4-BE49-F238E27FC236}">
                <a16:creationId xmlns:a16="http://schemas.microsoft.com/office/drawing/2014/main" id="{6B095A6F-0F00-4047-9C36-00F014A4364F}"/>
              </a:ext>
            </a:extLst>
          </p:cNvPr>
          <p:cNvSpPr txBox="1">
            <a:spLocks/>
          </p:cNvSpPr>
          <p:nvPr/>
        </p:nvSpPr>
        <p:spPr>
          <a:xfrm>
            <a:off x="8852210" y="57150"/>
            <a:ext cx="9067800" cy="2476500"/>
          </a:xfrm>
          <a:prstGeom prst="rect">
            <a:avLst/>
          </a:prstGeom>
        </p:spPr>
        <p:txBody>
          <a:bodyPr vert="horz" lIns="91440" tIns="91440" rIns="91440" bIns="91440" rtlCol="0">
            <a:noAutofit/>
          </a:bodyPr>
          <a:lstStyle>
            <a:lvl1pPr marL="0" indent="0" algn="l" defTabSz="1371600" rtl="0" eaLnBrk="1" latinLnBrk="0" hangingPunct="1">
              <a:lnSpc>
                <a:spcPct val="120000"/>
              </a:lnSpc>
              <a:spcBef>
                <a:spcPts val="1500"/>
              </a:spcBef>
              <a:buClr>
                <a:schemeClr val="accent1"/>
              </a:buClr>
              <a:buSzPct val="100000"/>
              <a:buFont typeface="Arial" panose="020B0604020202020204" pitchFamily="34" charset="0"/>
              <a:buNone/>
              <a:defRPr sz="2700" b="0" kern="1200" cap="all" baseline="0">
                <a:solidFill>
                  <a:schemeClr val="tx1"/>
                </a:solidFill>
                <a:effectLst/>
                <a:latin typeface="+mn-lt"/>
                <a:ea typeface="+mn-ea"/>
                <a:cs typeface="+mn-cs"/>
              </a:defRPr>
            </a:lvl1pPr>
            <a:lvl2pPr marL="685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cap="none" baseline="0">
                <a:solidFill>
                  <a:schemeClr val="tx1"/>
                </a:solidFill>
                <a:effectLst/>
                <a:latin typeface="+mn-lt"/>
                <a:ea typeface="+mn-ea"/>
                <a:cs typeface="+mn-cs"/>
              </a:defRPr>
            </a:lvl2pPr>
            <a:lvl3pPr marL="1371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a:solidFill>
                  <a:schemeClr val="tx1"/>
                </a:solidFill>
                <a:effectLst/>
                <a:latin typeface="+mn-lt"/>
                <a:ea typeface="+mn-ea"/>
                <a:cs typeface="+mn-cs"/>
              </a:defRPr>
            </a:lvl3pPr>
            <a:lvl4pPr marL="2057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cap="none" baseline="0">
                <a:solidFill>
                  <a:schemeClr val="tx1"/>
                </a:solidFill>
                <a:effectLst/>
                <a:latin typeface="+mn-lt"/>
                <a:ea typeface="+mn-ea"/>
                <a:cs typeface="+mn-cs"/>
              </a:defRPr>
            </a:lvl4pPr>
            <a:lvl5pPr marL="27432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5pPr>
            <a:lvl6pPr marL="34290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6pPr>
            <a:lvl7pPr marL="4114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7pPr>
            <a:lvl8pPr marL="4800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8pPr>
            <a:lvl9pPr marL="5486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9pPr>
          </a:lstStyle>
          <a:p>
            <a:pPr algn="just"/>
            <a:r>
              <a:rPr lang="en-US" sz="2200" dirty="0"/>
              <a:t>abstract class </a:t>
            </a:r>
            <a:r>
              <a:rPr lang="en-US" sz="2200" dirty="0" err="1"/>
              <a:t>Hewan</a:t>
            </a:r>
            <a:r>
              <a:rPr lang="en-US" sz="2200" dirty="0"/>
              <a:t> {</a:t>
            </a:r>
          </a:p>
          <a:p>
            <a:pPr algn="just"/>
            <a:r>
              <a:rPr lang="en-US" sz="2200" dirty="0"/>
              <a:t>    String </a:t>
            </a:r>
            <a:r>
              <a:rPr lang="en-US" sz="2200" dirty="0" err="1"/>
              <a:t>warna</a:t>
            </a:r>
            <a:r>
              <a:rPr lang="en-US" sz="2200" dirty="0"/>
              <a:t>;</a:t>
            </a:r>
          </a:p>
          <a:p>
            <a:pPr algn="just"/>
            <a:r>
              <a:rPr lang="en-US" sz="2200" dirty="0"/>
              <a:t>    abstract void </a:t>
            </a:r>
            <a:r>
              <a:rPr lang="en-US" sz="2200" dirty="0" err="1"/>
              <a:t>makan</a:t>
            </a:r>
            <a:r>
              <a:rPr lang="en-US" sz="2200" dirty="0"/>
              <a:t>(String </a:t>
            </a:r>
            <a:r>
              <a:rPr lang="en-US" sz="2200" dirty="0" err="1"/>
              <a:t>sayur</a:t>
            </a:r>
            <a:r>
              <a:rPr lang="en-US" sz="2200" dirty="0"/>
              <a:t>);</a:t>
            </a:r>
          </a:p>
          <a:p>
            <a:pPr algn="just"/>
            <a:r>
              <a:rPr lang="en-US" sz="2200" dirty="0"/>
              <a:t>    int </a:t>
            </a:r>
            <a:r>
              <a:rPr lang="en-US" sz="2200" dirty="0" err="1"/>
              <a:t>kecepatanLari</a:t>
            </a:r>
            <a:r>
              <a:rPr lang="en-US" sz="2200" dirty="0"/>
              <a:t>(int a, int b)</a:t>
            </a:r>
          </a:p>
          <a:p>
            <a:pPr algn="just"/>
            <a:r>
              <a:rPr lang="en-US" sz="2200" dirty="0"/>
              <a:t>    {</a:t>
            </a:r>
          </a:p>
          <a:p>
            <a:pPr algn="just"/>
            <a:r>
              <a:rPr lang="en-US" sz="2200" dirty="0"/>
              <a:t>        return a*b;</a:t>
            </a:r>
          </a:p>
          <a:p>
            <a:pPr algn="just"/>
            <a:r>
              <a:rPr lang="en-US" sz="2200" dirty="0"/>
              <a:t>    }</a:t>
            </a:r>
          </a:p>
          <a:p>
            <a:pPr algn="just"/>
            <a:r>
              <a:rPr lang="en-US" sz="2200" dirty="0"/>
              <a:t>    public void </a:t>
            </a:r>
            <a:r>
              <a:rPr lang="en-US" sz="2200" dirty="0" err="1"/>
              <a:t>bernafasDengan</a:t>
            </a:r>
            <a:r>
              <a:rPr lang="en-US" sz="2200" dirty="0"/>
              <a:t>()</a:t>
            </a:r>
          </a:p>
          <a:p>
            <a:pPr algn="just"/>
            <a:r>
              <a:rPr lang="en-US" sz="2200" dirty="0"/>
              <a:t>    {</a:t>
            </a:r>
          </a:p>
          <a:p>
            <a:pPr algn="just"/>
            <a:r>
              <a:rPr lang="en-US" sz="2200" dirty="0"/>
              <a:t>        </a:t>
            </a:r>
            <a:r>
              <a:rPr lang="en-US" sz="2200" dirty="0" err="1"/>
              <a:t>System.out.println</a:t>
            </a:r>
            <a:r>
              <a:rPr lang="en-US" sz="2200" dirty="0"/>
              <a:t>("</a:t>
            </a:r>
            <a:r>
              <a:rPr lang="en-US" sz="2200" dirty="0" err="1"/>
              <a:t>Bernafas</a:t>
            </a:r>
            <a:r>
              <a:rPr lang="en-US" sz="2200" dirty="0"/>
              <a:t> </a:t>
            </a:r>
            <a:r>
              <a:rPr lang="en-US" sz="2200" dirty="0" err="1"/>
              <a:t>Dengan</a:t>
            </a:r>
            <a:r>
              <a:rPr lang="en-US" sz="2200" dirty="0"/>
              <a:t> </a:t>
            </a:r>
            <a:r>
              <a:rPr lang="en-US" sz="2200" dirty="0" err="1"/>
              <a:t>Sendirinya</a:t>
            </a:r>
            <a:r>
              <a:rPr lang="en-US" sz="2200" dirty="0"/>
              <a:t>");</a:t>
            </a:r>
          </a:p>
          <a:p>
            <a:pPr algn="just"/>
            <a:r>
              <a:rPr lang="en-US" sz="2200" dirty="0"/>
              <a:t>    }</a:t>
            </a:r>
          </a:p>
          <a:p>
            <a:pPr algn="just"/>
            <a:r>
              <a:rPr lang="en-US" sz="2200" dirty="0"/>
              <a:t>    </a:t>
            </a:r>
          </a:p>
          <a:p>
            <a:pPr algn="just"/>
            <a:r>
              <a:rPr lang="en-US" sz="2200" dirty="0"/>
              <a:t>}</a:t>
            </a:r>
          </a:p>
        </p:txBody>
      </p:sp>
    </p:spTree>
    <p:extLst>
      <p:ext uri="{BB962C8B-B14F-4D97-AF65-F5344CB8AC3E}">
        <p14:creationId xmlns:p14="http://schemas.microsoft.com/office/powerpoint/2010/main" val="3591905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FF96-A549-4EDD-808E-430665FEBE08}"/>
              </a:ext>
            </a:extLst>
          </p:cNvPr>
          <p:cNvSpPr>
            <a:spLocks noGrp="1"/>
          </p:cNvSpPr>
          <p:nvPr>
            <p:ph type="ctrTitle"/>
          </p:nvPr>
        </p:nvSpPr>
        <p:spPr>
          <a:xfrm>
            <a:off x="197427" y="266700"/>
            <a:ext cx="7772400" cy="1055687"/>
          </a:xfrm>
        </p:spPr>
        <p:txBody>
          <a:bodyPr>
            <a:normAutofit/>
          </a:bodyPr>
          <a:lstStyle/>
          <a:p>
            <a:r>
              <a:rPr lang="en-US" sz="5500" dirty="0"/>
              <a:t>Constructor</a:t>
            </a:r>
          </a:p>
        </p:txBody>
      </p:sp>
      <p:sp>
        <p:nvSpPr>
          <p:cNvPr id="3" name="Subtitle 2">
            <a:extLst>
              <a:ext uri="{FF2B5EF4-FFF2-40B4-BE49-F238E27FC236}">
                <a16:creationId xmlns:a16="http://schemas.microsoft.com/office/drawing/2014/main" id="{07CDF624-0DEB-47AA-B74F-E04C61FC9A23}"/>
              </a:ext>
            </a:extLst>
          </p:cNvPr>
          <p:cNvSpPr>
            <a:spLocks noGrp="1"/>
          </p:cNvSpPr>
          <p:nvPr>
            <p:ph type="subTitle" idx="1"/>
          </p:nvPr>
        </p:nvSpPr>
        <p:spPr>
          <a:xfrm>
            <a:off x="457200" y="1447800"/>
            <a:ext cx="7772400" cy="2628900"/>
          </a:xfrm>
        </p:spPr>
        <p:txBody>
          <a:bodyPr>
            <a:normAutofit fontScale="92500" lnSpcReduction="20000"/>
          </a:bodyPr>
          <a:lstStyle/>
          <a:p>
            <a:pPr algn="just"/>
            <a:r>
              <a:rPr lang="en-US" dirty="0" err="1">
                <a:solidFill>
                  <a:schemeClr val="tx1"/>
                </a:solidFill>
              </a:rPr>
              <a:t>Konstruktor</a:t>
            </a:r>
            <a:r>
              <a:rPr lang="en-US" dirty="0">
                <a:solidFill>
                  <a:schemeClr val="tx1"/>
                </a:solidFill>
              </a:rPr>
              <a:t> di Java </a:t>
            </a:r>
            <a:r>
              <a:rPr lang="en-US" dirty="0" err="1">
                <a:solidFill>
                  <a:schemeClr val="tx1"/>
                </a:solidFill>
              </a:rPr>
              <a:t>adalah</a:t>
            </a:r>
            <a:r>
              <a:rPr lang="en-US" dirty="0">
                <a:solidFill>
                  <a:schemeClr val="tx1"/>
                </a:solidFill>
              </a:rPr>
              <a:t> </a:t>
            </a:r>
            <a:r>
              <a:rPr lang="en-US" dirty="0" err="1">
                <a:solidFill>
                  <a:schemeClr val="tx1"/>
                </a:solidFill>
              </a:rPr>
              <a:t>metode</a:t>
            </a:r>
            <a:r>
              <a:rPr lang="en-US" dirty="0">
                <a:solidFill>
                  <a:schemeClr val="tx1"/>
                </a:solidFill>
              </a:rPr>
              <a:t> </a:t>
            </a:r>
            <a:r>
              <a:rPr lang="en-US" dirty="0" err="1">
                <a:solidFill>
                  <a:schemeClr val="tx1"/>
                </a:solidFill>
              </a:rPr>
              <a:t>khusus</a:t>
            </a:r>
            <a:r>
              <a:rPr lang="en-US" dirty="0">
                <a:solidFill>
                  <a:schemeClr val="tx1"/>
                </a:solidFill>
              </a:rPr>
              <a:t> yang </a:t>
            </a:r>
            <a:r>
              <a:rPr lang="en-US" dirty="0" err="1">
                <a:solidFill>
                  <a:schemeClr val="tx1"/>
                </a:solidFill>
              </a:rPr>
              <a:t>digunakan</a:t>
            </a:r>
            <a:r>
              <a:rPr lang="en-US" dirty="0">
                <a:solidFill>
                  <a:schemeClr val="tx1"/>
                </a:solidFill>
              </a:rPr>
              <a:t> </a:t>
            </a:r>
            <a:r>
              <a:rPr lang="en-US" dirty="0" err="1">
                <a:solidFill>
                  <a:schemeClr val="tx1"/>
                </a:solidFill>
              </a:rPr>
              <a:t>untuk</a:t>
            </a:r>
            <a:r>
              <a:rPr lang="en-US" dirty="0">
                <a:solidFill>
                  <a:schemeClr val="tx1"/>
                </a:solidFill>
              </a:rPr>
              <a:t> </a:t>
            </a:r>
            <a:r>
              <a:rPr lang="en-US" dirty="0" err="1">
                <a:solidFill>
                  <a:schemeClr val="tx1"/>
                </a:solidFill>
              </a:rPr>
              <a:t>menginisialisasi</a:t>
            </a:r>
            <a:r>
              <a:rPr lang="en-US" dirty="0">
                <a:solidFill>
                  <a:schemeClr val="tx1"/>
                </a:solidFill>
              </a:rPr>
              <a:t> </a:t>
            </a:r>
            <a:r>
              <a:rPr lang="en-US" dirty="0" err="1">
                <a:solidFill>
                  <a:schemeClr val="tx1"/>
                </a:solidFill>
              </a:rPr>
              <a:t>objek</a:t>
            </a:r>
            <a:r>
              <a:rPr lang="en-US" dirty="0">
                <a:solidFill>
                  <a:schemeClr val="tx1"/>
                </a:solidFill>
              </a:rPr>
              <a:t>. </a:t>
            </a:r>
            <a:r>
              <a:rPr lang="en-US" dirty="0" err="1">
                <a:solidFill>
                  <a:schemeClr val="tx1"/>
                </a:solidFill>
              </a:rPr>
              <a:t>Konstruktor</a:t>
            </a:r>
            <a:r>
              <a:rPr lang="en-US" dirty="0">
                <a:solidFill>
                  <a:schemeClr val="tx1"/>
                </a:solidFill>
              </a:rPr>
              <a:t> </a:t>
            </a:r>
            <a:r>
              <a:rPr lang="en-US" dirty="0" err="1">
                <a:solidFill>
                  <a:schemeClr val="tx1"/>
                </a:solidFill>
              </a:rPr>
              <a:t>dipanggil</a:t>
            </a:r>
            <a:r>
              <a:rPr lang="en-US" dirty="0">
                <a:solidFill>
                  <a:schemeClr val="tx1"/>
                </a:solidFill>
              </a:rPr>
              <a:t> </a:t>
            </a:r>
            <a:r>
              <a:rPr lang="en-US" dirty="0" err="1">
                <a:solidFill>
                  <a:schemeClr val="tx1"/>
                </a:solidFill>
              </a:rPr>
              <a:t>ketika</a:t>
            </a:r>
            <a:r>
              <a:rPr lang="en-US" dirty="0">
                <a:solidFill>
                  <a:schemeClr val="tx1"/>
                </a:solidFill>
              </a:rPr>
              <a:t> </a:t>
            </a:r>
            <a:r>
              <a:rPr lang="en-US" dirty="0" err="1">
                <a:solidFill>
                  <a:schemeClr val="tx1"/>
                </a:solidFill>
              </a:rPr>
              <a:t>objek</a:t>
            </a:r>
            <a:r>
              <a:rPr lang="en-US" dirty="0">
                <a:solidFill>
                  <a:schemeClr val="tx1"/>
                </a:solidFill>
              </a:rPr>
              <a:t> </a:t>
            </a:r>
            <a:r>
              <a:rPr lang="en-US" dirty="0" err="1">
                <a:solidFill>
                  <a:schemeClr val="tx1"/>
                </a:solidFill>
              </a:rPr>
              <a:t>kelas</a:t>
            </a:r>
            <a:r>
              <a:rPr lang="en-US" dirty="0">
                <a:solidFill>
                  <a:schemeClr val="tx1"/>
                </a:solidFill>
              </a:rPr>
              <a:t> </a:t>
            </a:r>
            <a:r>
              <a:rPr lang="en-US" dirty="0" err="1">
                <a:solidFill>
                  <a:schemeClr val="tx1"/>
                </a:solidFill>
              </a:rPr>
              <a:t>dibuat</a:t>
            </a:r>
            <a:r>
              <a:rPr lang="en-US" dirty="0">
                <a:solidFill>
                  <a:schemeClr val="tx1"/>
                </a:solidFill>
              </a:rPr>
              <a:t>. </a:t>
            </a:r>
            <a:r>
              <a:rPr lang="en-US" dirty="0" err="1">
                <a:solidFill>
                  <a:schemeClr val="tx1"/>
                </a:solidFill>
              </a:rPr>
              <a:t>Ini</a:t>
            </a:r>
            <a:r>
              <a:rPr lang="en-US" dirty="0">
                <a:solidFill>
                  <a:schemeClr val="tx1"/>
                </a:solidFill>
              </a:rPr>
              <a:t> </a:t>
            </a:r>
            <a:r>
              <a:rPr lang="en-US" dirty="0" err="1">
                <a:solidFill>
                  <a:schemeClr val="tx1"/>
                </a:solidFill>
              </a:rPr>
              <a:t>dapat</a:t>
            </a:r>
            <a:r>
              <a:rPr lang="en-US" dirty="0">
                <a:solidFill>
                  <a:schemeClr val="tx1"/>
                </a:solidFill>
              </a:rPr>
              <a:t> </a:t>
            </a:r>
            <a:r>
              <a:rPr lang="en-US" dirty="0" err="1">
                <a:solidFill>
                  <a:schemeClr val="tx1"/>
                </a:solidFill>
              </a:rPr>
              <a:t>digunakan</a:t>
            </a:r>
            <a:r>
              <a:rPr lang="en-US" dirty="0">
                <a:solidFill>
                  <a:schemeClr val="tx1"/>
                </a:solidFill>
              </a:rPr>
              <a:t> </a:t>
            </a:r>
            <a:r>
              <a:rPr lang="en-US" dirty="0" err="1">
                <a:solidFill>
                  <a:schemeClr val="tx1"/>
                </a:solidFill>
              </a:rPr>
              <a:t>untuk</a:t>
            </a:r>
            <a:r>
              <a:rPr lang="en-US" dirty="0">
                <a:solidFill>
                  <a:schemeClr val="tx1"/>
                </a:solidFill>
              </a:rPr>
              <a:t> </a:t>
            </a:r>
            <a:r>
              <a:rPr lang="en-US" dirty="0" err="1">
                <a:solidFill>
                  <a:schemeClr val="tx1"/>
                </a:solidFill>
              </a:rPr>
              <a:t>menetapkan</a:t>
            </a:r>
            <a:r>
              <a:rPr lang="en-US" dirty="0">
                <a:solidFill>
                  <a:schemeClr val="tx1"/>
                </a:solidFill>
              </a:rPr>
              <a:t> </a:t>
            </a:r>
            <a:r>
              <a:rPr lang="en-US" dirty="0" err="1">
                <a:solidFill>
                  <a:schemeClr val="tx1"/>
                </a:solidFill>
              </a:rPr>
              <a:t>nilai</a:t>
            </a:r>
            <a:r>
              <a:rPr lang="en-US" dirty="0">
                <a:solidFill>
                  <a:schemeClr val="tx1"/>
                </a:solidFill>
              </a:rPr>
              <a:t> </a:t>
            </a:r>
            <a:r>
              <a:rPr lang="en-US" dirty="0" err="1">
                <a:solidFill>
                  <a:schemeClr val="tx1"/>
                </a:solidFill>
              </a:rPr>
              <a:t>awal</a:t>
            </a:r>
            <a:r>
              <a:rPr lang="en-US" dirty="0">
                <a:solidFill>
                  <a:schemeClr val="tx1"/>
                </a:solidFill>
              </a:rPr>
              <a:t> </a:t>
            </a:r>
            <a:r>
              <a:rPr lang="en-US" dirty="0" err="1">
                <a:solidFill>
                  <a:schemeClr val="tx1"/>
                </a:solidFill>
              </a:rPr>
              <a:t>untuk</a:t>
            </a:r>
            <a:r>
              <a:rPr lang="en-US" dirty="0">
                <a:solidFill>
                  <a:schemeClr val="tx1"/>
                </a:solidFill>
              </a:rPr>
              <a:t> </a:t>
            </a:r>
            <a:r>
              <a:rPr lang="en-US" dirty="0" err="1">
                <a:solidFill>
                  <a:schemeClr val="tx1"/>
                </a:solidFill>
              </a:rPr>
              <a:t>atribut</a:t>
            </a:r>
            <a:r>
              <a:rPr lang="en-US" dirty="0">
                <a:solidFill>
                  <a:schemeClr val="tx1"/>
                </a:solidFill>
              </a:rPr>
              <a:t> </a:t>
            </a:r>
            <a:r>
              <a:rPr lang="en-US" dirty="0" err="1">
                <a:solidFill>
                  <a:schemeClr val="tx1"/>
                </a:solidFill>
              </a:rPr>
              <a:t>objek</a:t>
            </a:r>
            <a:endParaRPr lang="en-US" dirty="0">
              <a:solidFill>
                <a:schemeClr val="tx1"/>
              </a:solidFill>
            </a:endParaRPr>
          </a:p>
        </p:txBody>
      </p:sp>
      <p:sp>
        <p:nvSpPr>
          <p:cNvPr id="4" name="Subtitle 2">
            <a:extLst>
              <a:ext uri="{FF2B5EF4-FFF2-40B4-BE49-F238E27FC236}">
                <a16:creationId xmlns:a16="http://schemas.microsoft.com/office/drawing/2014/main" id="{B31D7E14-061D-42FE-8C51-8C6DB2396105}"/>
              </a:ext>
            </a:extLst>
          </p:cNvPr>
          <p:cNvSpPr txBox="1">
            <a:spLocks/>
          </p:cNvSpPr>
          <p:nvPr/>
        </p:nvSpPr>
        <p:spPr>
          <a:xfrm>
            <a:off x="311727" y="3829050"/>
            <a:ext cx="7543800" cy="26289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dirty="0">
                <a:solidFill>
                  <a:schemeClr val="tx1"/>
                </a:solidFill>
              </a:rPr>
              <a:t>Kita </a:t>
            </a:r>
            <a:r>
              <a:rPr lang="en-US" dirty="0" err="1">
                <a:solidFill>
                  <a:schemeClr val="tx1"/>
                </a:solidFill>
              </a:rPr>
              <a:t>dapat</a:t>
            </a:r>
            <a:r>
              <a:rPr lang="en-US" dirty="0">
                <a:solidFill>
                  <a:schemeClr val="tx1"/>
                </a:solidFill>
              </a:rPr>
              <a:t> </a:t>
            </a:r>
            <a:r>
              <a:rPr lang="en-US" dirty="0" err="1">
                <a:solidFill>
                  <a:schemeClr val="tx1"/>
                </a:solidFill>
              </a:rPr>
              <a:t>mengimplementasikan</a:t>
            </a:r>
            <a:r>
              <a:rPr lang="en-US" dirty="0">
                <a:solidFill>
                  <a:schemeClr val="tx1"/>
                </a:solidFill>
              </a:rPr>
              <a:t> constructor </a:t>
            </a:r>
            <a:r>
              <a:rPr lang="en-US" dirty="0" err="1">
                <a:solidFill>
                  <a:schemeClr val="tx1"/>
                </a:solidFill>
              </a:rPr>
              <a:t>sendiri</a:t>
            </a:r>
            <a:r>
              <a:rPr lang="en-US" dirty="0">
                <a:solidFill>
                  <a:schemeClr val="tx1"/>
                </a:solidFill>
              </a:rPr>
              <a:t>. </a:t>
            </a:r>
            <a:r>
              <a:rPr lang="en-US" dirty="0" err="1">
                <a:solidFill>
                  <a:schemeClr val="tx1"/>
                </a:solidFill>
              </a:rPr>
              <a:t>Dengan</a:t>
            </a:r>
            <a:r>
              <a:rPr lang="en-US" dirty="0">
                <a:solidFill>
                  <a:schemeClr val="tx1"/>
                </a:solidFill>
              </a:rPr>
              <a:t> </a:t>
            </a:r>
            <a:r>
              <a:rPr lang="en-US" dirty="0" err="1">
                <a:solidFill>
                  <a:schemeClr val="tx1"/>
                </a:solidFill>
              </a:rPr>
              <a:t>syarat</a:t>
            </a:r>
            <a:r>
              <a:rPr lang="en-US" dirty="0">
                <a:solidFill>
                  <a:schemeClr val="tx1"/>
                </a:solidFill>
              </a:rPr>
              <a:t> </a:t>
            </a:r>
            <a:r>
              <a:rPr lang="en-US" dirty="0" err="1">
                <a:solidFill>
                  <a:schemeClr val="tx1"/>
                </a:solidFill>
              </a:rPr>
              <a:t>nama</a:t>
            </a:r>
            <a:r>
              <a:rPr lang="en-US" dirty="0">
                <a:solidFill>
                  <a:schemeClr val="tx1"/>
                </a:solidFill>
              </a:rPr>
              <a:t> constructor </a:t>
            </a:r>
            <a:r>
              <a:rPr lang="en-US" dirty="0" err="1">
                <a:solidFill>
                  <a:schemeClr val="tx1"/>
                </a:solidFill>
              </a:rPr>
              <a:t>wajib</a:t>
            </a:r>
            <a:r>
              <a:rPr lang="en-US" dirty="0">
                <a:solidFill>
                  <a:schemeClr val="tx1"/>
                </a:solidFill>
              </a:rPr>
              <a:t> </a:t>
            </a:r>
            <a:r>
              <a:rPr lang="en-US" dirty="0" err="1">
                <a:solidFill>
                  <a:schemeClr val="tx1"/>
                </a:solidFill>
              </a:rPr>
              <a:t>sama</a:t>
            </a:r>
            <a:r>
              <a:rPr lang="en-US" dirty="0">
                <a:solidFill>
                  <a:schemeClr val="tx1"/>
                </a:solidFill>
              </a:rPr>
              <a:t> </a:t>
            </a:r>
            <a:r>
              <a:rPr lang="en-US" dirty="0" err="1">
                <a:solidFill>
                  <a:schemeClr val="tx1"/>
                </a:solidFill>
              </a:rPr>
              <a:t>dengan</a:t>
            </a:r>
            <a:r>
              <a:rPr lang="en-US" dirty="0">
                <a:solidFill>
                  <a:schemeClr val="tx1"/>
                </a:solidFill>
              </a:rPr>
              <a:t> </a:t>
            </a:r>
            <a:r>
              <a:rPr lang="en-US" dirty="0" err="1">
                <a:solidFill>
                  <a:schemeClr val="tx1"/>
                </a:solidFill>
              </a:rPr>
              <a:t>nama</a:t>
            </a:r>
            <a:r>
              <a:rPr lang="en-US" dirty="0">
                <a:solidFill>
                  <a:schemeClr val="tx1"/>
                </a:solidFill>
              </a:rPr>
              <a:t> class. Dan pada constructor </a:t>
            </a:r>
            <a:r>
              <a:rPr lang="en-US" dirty="0" err="1">
                <a:solidFill>
                  <a:schemeClr val="tx1"/>
                </a:solidFill>
              </a:rPr>
              <a:t>kita</a:t>
            </a:r>
            <a:r>
              <a:rPr lang="en-US" dirty="0">
                <a:solidFill>
                  <a:schemeClr val="tx1"/>
                </a:solidFill>
              </a:rPr>
              <a:t> </a:t>
            </a:r>
            <a:r>
              <a:rPr lang="en-US" dirty="0" err="1">
                <a:solidFill>
                  <a:schemeClr val="tx1"/>
                </a:solidFill>
              </a:rPr>
              <a:t>dapat</a:t>
            </a:r>
            <a:r>
              <a:rPr lang="en-US" dirty="0">
                <a:solidFill>
                  <a:schemeClr val="tx1"/>
                </a:solidFill>
              </a:rPr>
              <a:t> </a:t>
            </a:r>
            <a:r>
              <a:rPr lang="en-US" dirty="0" err="1">
                <a:solidFill>
                  <a:schemeClr val="tx1"/>
                </a:solidFill>
              </a:rPr>
              <a:t>menambahkan</a:t>
            </a:r>
            <a:r>
              <a:rPr lang="en-US" dirty="0">
                <a:solidFill>
                  <a:schemeClr val="tx1"/>
                </a:solidFill>
              </a:rPr>
              <a:t> parameter.</a:t>
            </a:r>
          </a:p>
        </p:txBody>
      </p:sp>
      <p:sp>
        <p:nvSpPr>
          <p:cNvPr id="7" name="Subtitle 2">
            <a:extLst>
              <a:ext uri="{FF2B5EF4-FFF2-40B4-BE49-F238E27FC236}">
                <a16:creationId xmlns:a16="http://schemas.microsoft.com/office/drawing/2014/main" id="{2EB43222-0624-4A28-8E17-780C08FD0A33}"/>
              </a:ext>
            </a:extLst>
          </p:cNvPr>
          <p:cNvSpPr txBox="1">
            <a:spLocks/>
          </p:cNvSpPr>
          <p:nvPr/>
        </p:nvSpPr>
        <p:spPr>
          <a:xfrm>
            <a:off x="9670473" y="266700"/>
            <a:ext cx="8305800" cy="44196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2200" dirty="0">
                <a:solidFill>
                  <a:schemeClr val="tx1"/>
                </a:solidFill>
              </a:rPr>
              <a:t>public class </a:t>
            </a:r>
            <a:r>
              <a:rPr lang="en-US" sz="2200" dirty="0" err="1">
                <a:solidFill>
                  <a:schemeClr val="tx1"/>
                </a:solidFill>
              </a:rPr>
              <a:t>Badak</a:t>
            </a:r>
            <a:r>
              <a:rPr lang="en-US" sz="2200" dirty="0">
                <a:solidFill>
                  <a:schemeClr val="tx1"/>
                </a:solidFill>
              </a:rPr>
              <a:t> {</a:t>
            </a:r>
          </a:p>
          <a:p>
            <a:pPr algn="just"/>
            <a:r>
              <a:rPr lang="en-US" sz="2200" dirty="0">
                <a:solidFill>
                  <a:schemeClr val="tx1"/>
                </a:solidFill>
              </a:rPr>
              <a:t>    int </a:t>
            </a:r>
            <a:r>
              <a:rPr lang="en-US" sz="2200" dirty="0" err="1">
                <a:solidFill>
                  <a:schemeClr val="tx1"/>
                </a:solidFill>
              </a:rPr>
              <a:t>hasil</a:t>
            </a:r>
            <a:r>
              <a:rPr lang="en-US" sz="2200" dirty="0">
                <a:solidFill>
                  <a:schemeClr val="tx1"/>
                </a:solidFill>
              </a:rPr>
              <a:t>;</a:t>
            </a:r>
          </a:p>
          <a:p>
            <a:pPr algn="just"/>
            <a:r>
              <a:rPr lang="en-US" sz="2200" dirty="0">
                <a:solidFill>
                  <a:schemeClr val="tx1"/>
                </a:solidFill>
              </a:rPr>
              <a:t>    </a:t>
            </a:r>
            <a:r>
              <a:rPr lang="en-US" sz="2200" dirty="0" err="1">
                <a:solidFill>
                  <a:schemeClr val="tx1"/>
                </a:solidFill>
              </a:rPr>
              <a:t>Badak</a:t>
            </a:r>
            <a:r>
              <a:rPr lang="en-US" sz="2200" dirty="0">
                <a:solidFill>
                  <a:schemeClr val="tx1"/>
                </a:solidFill>
              </a:rPr>
              <a:t>()</a:t>
            </a:r>
          </a:p>
          <a:p>
            <a:pPr algn="just"/>
            <a:r>
              <a:rPr lang="en-US" sz="2200" dirty="0">
                <a:solidFill>
                  <a:schemeClr val="tx1"/>
                </a:solidFill>
              </a:rPr>
              <a:t>    {</a:t>
            </a:r>
          </a:p>
          <a:p>
            <a:pPr algn="just"/>
            <a:r>
              <a:rPr lang="en-US" sz="2200" dirty="0">
                <a:solidFill>
                  <a:schemeClr val="tx1"/>
                </a:solidFill>
              </a:rPr>
              <a:t>        </a:t>
            </a:r>
            <a:r>
              <a:rPr lang="en-US" sz="2200" dirty="0" err="1">
                <a:solidFill>
                  <a:schemeClr val="tx1"/>
                </a:solidFill>
              </a:rPr>
              <a:t>System.out.println</a:t>
            </a:r>
            <a:r>
              <a:rPr lang="en-US" sz="2200" dirty="0">
                <a:solidFill>
                  <a:schemeClr val="tx1"/>
                </a:solidFill>
              </a:rPr>
              <a:t>("</a:t>
            </a:r>
            <a:r>
              <a:rPr lang="en-US" sz="2200" dirty="0" err="1">
                <a:solidFill>
                  <a:schemeClr val="tx1"/>
                </a:solidFill>
              </a:rPr>
              <a:t>Ini</a:t>
            </a:r>
            <a:r>
              <a:rPr lang="en-US" sz="2200" dirty="0">
                <a:solidFill>
                  <a:schemeClr val="tx1"/>
                </a:solidFill>
              </a:rPr>
              <a:t> </a:t>
            </a:r>
            <a:r>
              <a:rPr lang="en-US" sz="2200" dirty="0" err="1">
                <a:solidFill>
                  <a:schemeClr val="tx1"/>
                </a:solidFill>
              </a:rPr>
              <a:t>Adalah</a:t>
            </a:r>
            <a:r>
              <a:rPr lang="en-US" sz="2200" dirty="0">
                <a:solidFill>
                  <a:schemeClr val="tx1"/>
                </a:solidFill>
              </a:rPr>
              <a:t> Constructor </a:t>
            </a:r>
            <a:r>
              <a:rPr lang="en-US" sz="2200" dirty="0" err="1">
                <a:solidFill>
                  <a:schemeClr val="tx1"/>
                </a:solidFill>
              </a:rPr>
              <a:t>Badak</a:t>
            </a:r>
            <a:r>
              <a:rPr lang="en-US" sz="2200" dirty="0">
                <a:solidFill>
                  <a:schemeClr val="tx1"/>
                </a:solidFill>
              </a:rPr>
              <a:t>");</a:t>
            </a:r>
          </a:p>
          <a:p>
            <a:pPr algn="just"/>
            <a:r>
              <a:rPr lang="en-US" sz="2200" dirty="0">
                <a:solidFill>
                  <a:schemeClr val="tx1"/>
                </a:solidFill>
              </a:rPr>
              <a:t>    }</a:t>
            </a:r>
          </a:p>
          <a:p>
            <a:pPr algn="just"/>
            <a:r>
              <a:rPr lang="en-US" sz="2200" dirty="0">
                <a:solidFill>
                  <a:schemeClr val="tx1"/>
                </a:solidFill>
              </a:rPr>
              <a:t>    </a:t>
            </a:r>
            <a:r>
              <a:rPr lang="en-US" sz="2200" dirty="0" err="1">
                <a:solidFill>
                  <a:schemeClr val="tx1"/>
                </a:solidFill>
              </a:rPr>
              <a:t>Badak</a:t>
            </a:r>
            <a:r>
              <a:rPr lang="en-US" sz="2200" dirty="0">
                <a:solidFill>
                  <a:schemeClr val="tx1"/>
                </a:solidFill>
              </a:rPr>
              <a:t>(int </a:t>
            </a:r>
            <a:r>
              <a:rPr lang="en-US" sz="2200" dirty="0" err="1">
                <a:solidFill>
                  <a:schemeClr val="tx1"/>
                </a:solidFill>
              </a:rPr>
              <a:t>a,int</a:t>
            </a:r>
            <a:r>
              <a:rPr lang="en-US" sz="2200" dirty="0">
                <a:solidFill>
                  <a:schemeClr val="tx1"/>
                </a:solidFill>
              </a:rPr>
              <a:t> b)</a:t>
            </a:r>
          </a:p>
          <a:p>
            <a:pPr algn="just"/>
            <a:r>
              <a:rPr lang="en-US" sz="2200" dirty="0">
                <a:solidFill>
                  <a:schemeClr val="tx1"/>
                </a:solidFill>
              </a:rPr>
              <a:t>    {</a:t>
            </a:r>
          </a:p>
          <a:p>
            <a:pPr algn="just"/>
            <a:r>
              <a:rPr lang="en-US" sz="2200" dirty="0">
                <a:solidFill>
                  <a:schemeClr val="tx1"/>
                </a:solidFill>
              </a:rPr>
              <a:t>        </a:t>
            </a:r>
            <a:r>
              <a:rPr lang="en-US" sz="2200" dirty="0" err="1">
                <a:solidFill>
                  <a:schemeClr val="tx1"/>
                </a:solidFill>
              </a:rPr>
              <a:t>hasil</a:t>
            </a:r>
            <a:r>
              <a:rPr lang="en-US" sz="2200" dirty="0">
                <a:solidFill>
                  <a:schemeClr val="tx1"/>
                </a:solidFill>
              </a:rPr>
              <a:t> = a *b;</a:t>
            </a:r>
          </a:p>
          <a:p>
            <a:pPr algn="just"/>
            <a:r>
              <a:rPr lang="en-US" sz="2200" dirty="0">
                <a:solidFill>
                  <a:schemeClr val="tx1"/>
                </a:solidFill>
              </a:rPr>
              <a:t>    }</a:t>
            </a:r>
          </a:p>
          <a:p>
            <a:pPr algn="just"/>
            <a:r>
              <a:rPr lang="en-US" sz="2200" dirty="0">
                <a:solidFill>
                  <a:schemeClr val="tx1"/>
                </a:solidFill>
              </a:rPr>
              <a:t>}</a:t>
            </a:r>
          </a:p>
        </p:txBody>
      </p:sp>
      <p:sp>
        <p:nvSpPr>
          <p:cNvPr id="8" name="Subtitle 2">
            <a:extLst>
              <a:ext uri="{FF2B5EF4-FFF2-40B4-BE49-F238E27FC236}">
                <a16:creationId xmlns:a16="http://schemas.microsoft.com/office/drawing/2014/main" id="{6350728F-2EBB-40DE-8FA9-2DD1B5C23445}"/>
              </a:ext>
            </a:extLst>
          </p:cNvPr>
          <p:cNvSpPr txBox="1">
            <a:spLocks/>
          </p:cNvSpPr>
          <p:nvPr/>
        </p:nvSpPr>
        <p:spPr>
          <a:xfrm>
            <a:off x="9989127" y="5600701"/>
            <a:ext cx="8305800" cy="3505199"/>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2200" dirty="0">
                <a:solidFill>
                  <a:schemeClr val="tx1"/>
                </a:solidFill>
              </a:rPr>
              <a:t> public static void main(String[] </a:t>
            </a:r>
            <a:r>
              <a:rPr lang="en-US" sz="2200" dirty="0" err="1">
                <a:solidFill>
                  <a:schemeClr val="tx1"/>
                </a:solidFill>
              </a:rPr>
              <a:t>args</a:t>
            </a:r>
            <a:r>
              <a:rPr lang="en-US" sz="2200" dirty="0">
                <a:solidFill>
                  <a:schemeClr val="tx1"/>
                </a:solidFill>
              </a:rPr>
              <a:t>) {</a:t>
            </a:r>
          </a:p>
          <a:p>
            <a:pPr algn="just"/>
            <a:r>
              <a:rPr lang="en-US" sz="2200" dirty="0">
                <a:solidFill>
                  <a:schemeClr val="tx1"/>
                </a:solidFill>
              </a:rPr>
              <a:t>                </a:t>
            </a:r>
          </a:p>
          <a:p>
            <a:pPr algn="just"/>
            <a:r>
              <a:rPr lang="en-US" sz="2200" dirty="0">
                <a:solidFill>
                  <a:schemeClr val="tx1"/>
                </a:solidFill>
              </a:rPr>
              <a:t>        </a:t>
            </a:r>
            <a:r>
              <a:rPr lang="en-US" sz="2200" dirty="0" err="1">
                <a:solidFill>
                  <a:schemeClr val="tx1"/>
                </a:solidFill>
              </a:rPr>
              <a:t>Badak</a:t>
            </a:r>
            <a:r>
              <a:rPr lang="en-US" sz="2200" dirty="0">
                <a:solidFill>
                  <a:schemeClr val="tx1"/>
                </a:solidFill>
              </a:rPr>
              <a:t> bad = new </a:t>
            </a:r>
            <a:r>
              <a:rPr lang="en-US" sz="2200" dirty="0" err="1">
                <a:solidFill>
                  <a:schemeClr val="tx1"/>
                </a:solidFill>
              </a:rPr>
              <a:t>Badak</a:t>
            </a:r>
            <a:r>
              <a:rPr lang="en-US" sz="2200" dirty="0">
                <a:solidFill>
                  <a:schemeClr val="tx1"/>
                </a:solidFill>
              </a:rPr>
              <a:t>();</a:t>
            </a:r>
          </a:p>
          <a:p>
            <a:pPr algn="just"/>
            <a:r>
              <a:rPr lang="en-US" sz="2200" dirty="0">
                <a:solidFill>
                  <a:schemeClr val="tx1"/>
                </a:solidFill>
              </a:rPr>
              <a:t>        </a:t>
            </a:r>
            <a:r>
              <a:rPr lang="en-US" sz="2200" dirty="0" err="1">
                <a:solidFill>
                  <a:schemeClr val="tx1"/>
                </a:solidFill>
              </a:rPr>
              <a:t>Badak</a:t>
            </a:r>
            <a:r>
              <a:rPr lang="en-US" sz="2200" dirty="0">
                <a:solidFill>
                  <a:schemeClr val="tx1"/>
                </a:solidFill>
              </a:rPr>
              <a:t> dak = new </a:t>
            </a:r>
            <a:r>
              <a:rPr lang="en-US" sz="2200" dirty="0" err="1">
                <a:solidFill>
                  <a:schemeClr val="tx1"/>
                </a:solidFill>
              </a:rPr>
              <a:t>Badak</a:t>
            </a:r>
            <a:r>
              <a:rPr lang="en-US" sz="2200" dirty="0">
                <a:solidFill>
                  <a:schemeClr val="tx1"/>
                </a:solidFill>
              </a:rPr>
              <a:t>(10,10);</a:t>
            </a:r>
          </a:p>
          <a:p>
            <a:pPr algn="just"/>
            <a:r>
              <a:rPr lang="en-US" sz="2200" dirty="0">
                <a:solidFill>
                  <a:schemeClr val="tx1"/>
                </a:solidFill>
              </a:rPr>
              <a:t>        </a:t>
            </a:r>
            <a:r>
              <a:rPr lang="en-US" sz="2200" dirty="0" err="1">
                <a:solidFill>
                  <a:schemeClr val="tx1"/>
                </a:solidFill>
              </a:rPr>
              <a:t>System.out.println</a:t>
            </a:r>
            <a:r>
              <a:rPr lang="en-US" sz="2200" dirty="0">
                <a:solidFill>
                  <a:schemeClr val="tx1"/>
                </a:solidFill>
              </a:rPr>
              <a:t>(</a:t>
            </a:r>
            <a:r>
              <a:rPr lang="en-US" sz="2200" dirty="0" err="1">
                <a:solidFill>
                  <a:schemeClr val="tx1"/>
                </a:solidFill>
              </a:rPr>
              <a:t>dak.hasil</a:t>
            </a:r>
            <a:r>
              <a:rPr lang="en-US" sz="2200" dirty="0">
                <a:solidFill>
                  <a:schemeClr val="tx1"/>
                </a:solidFill>
              </a:rPr>
              <a:t>);</a:t>
            </a:r>
          </a:p>
          <a:p>
            <a:pPr algn="just"/>
            <a:r>
              <a:rPr lang="en-US" sz="2200" dirty="0">
                <a:solidFill>
                  <a:schemeClr val="tx1"/>
                </a:solidFill>
              </a:rPr>
              <a:t>    }</a:t>
            </a:r>
          </a:p>
          <a:p>
            <a:pPr algn="just"/>
            <a:r>
              <a:rPr lang="en-US" sz="2200" dirty="0">
                <a:solidFill>
                  <a:schemeClr val="tx1"/>
                </a:solidFill>
              </a:rPr>
              <a:t>    </a:t>
            </a:r>
          </a:p>
          <a:p>
            <a:pPr algn="just"/>
            <a:r>
              <a:rPr lang="en-US" sz="2200" dirty="0">
                <a:solidFill>
                  <a:schemeClr val="tx1"/>
                </a:solidFill>
              </a:rPr>
              <a:t>}</a:t>
            </a:r>
          </a:p>
        </p:txBody>
      </p:sp>
    </p:spTree>
    <p:extLst>
      <p:ext uri="{BB962C8B-B14F-4D97-AF65-F5344CB8AC3E}">
        <p14:creationId xmlns:p14="http://schemas.microsoft.com/office/powerpoint/2010/main" val="1020015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2"/>
          <p:cNvSpPr txBox="1"/>
          <p:nvPr/>
        </p:nvSpPr>
        <p:spPr>
          <a:xfrm>
            <a:off x="-457200" y="342900"/>
            <a:ext cx="6165818" cy="974626"/>
          </a:xfrm>
          <a:prstGeom prst="rect">
            <a:avLst/>
          </a:prstGeom>
        </p:spPr>
        <p:txBody>
          <a:bodyPr wrap="square" lIns="0" tIns="0" rIns="0" bIns="0" rtlCol="0" anchor="t">
            <a:spAutoFit/>
          </a:bodyPr>
          <a:lstStyle/>
          <a:p>
            <a:pPr algn="ctr">
              <a:lnSpc>
                <a:spcPts val="7560"/>
              </a:lnSpc>
            </a:pPr>
            <a:r>
              <a:rPr lang="en-US" sz="6600" dirty="0">
                <a:latin typeface="DM Sans"/>
              </a:rPr>
              <a:t>Interface</a:t>
            </a:r>
          </a:p>
        </p:txBody>
      </p:sp>
      <p:sp>
        <p:nvSpPr>
          <p:cNvPr id="47" name="TextBox 32">
            <a:extLst>
              <a:ext uri="{FF2B5EF4-FFF2-40B4-BE49-F238E27FC236}">
                <a16:creationId xmlns:a16="http://schemas.microsoft.com/office/drawing/2014/main" id="{9D45E080-F705-45F6-AEA8-C2DCA3969825}"/>
              </a:ext>
            </a:extLst>
          </p:cNvPr>
          <p:cNvSpPr txBox="1"/>
          <p:nvPr/>
        </p:nvSpPr>
        <p:spPr>
          <a:xfrm>
            <a:off x="762000" y="1317526"/>
            <a:ext cx="9483709" cy="2539157"/>
          </a:xfrm>
          <a:prstGeom prst="rect">
            <a:avLst/>
          </a:prstGeom>
        </p:spPr>
        <p:txBody>
          <a:bodyPr wrap="square" lIns="0" tIns="0" rIns="0" bIns="0" rtlCol="0" anchor="t">
            <a:spAutoFit/>
          </a:bodyPr>
          <a:lstStyle/>
          <a:p>
            <a:r>
              <a:rPr lang="en-US" sz="3300" dirty="0">
                <a:latin typeface="DM Sans"/>
              </a:rPr>
              <a:t>Interface pada </a:t>
            </a:r>
            <a:r>
              <a:rPr lang="en-US" sz="3300" dirty="0" err="1">
                <a:latin typeface="DM Sans"/>
              </a:rPr>
              <a:t>dasarnya</a:t>
            </a:r>
            <a:r>
              <a:rPr lang="en-US" sz="3300" dirty="0">
                <a:latin typeface="DM Sans"/>
              </a:rPr>
              <a:t> </a:t>
            </a:r>
            <a:r>
              <a:rPr lang="en-US" sz="3300" dirty="0" err="1">
                <a:latin typeface="DM Sans"/>
              </a:rPr>
              <a:t>sama</a:t>
            </a:r>
            <a:r>
              <a:rPr lang="en-US" sz="3300" dirty="0">
                <a:latin typeface="DM Sans"/>
              </a:rPr>
              <a:t> </a:t>
            </a:r>
            <a:r>
              <a:rPr lang="en-US" sz="3300" dirty="0" err="1">
                <a:latin typeface="DM Sans"/>
              </a:rPr>
              <a:t>halnya</a:t>
            </a:r>
            <a:r>
              <a:rPr lang="en-US" sz="3300" dirty="0">
                <a:latin typeface="DM Sans"/>
              </a:rPr>
              <a:t> </a:t>
            </a:r>
            <a:r>
              <a:rPr lang="en-US" sz="3300" dirty="0" err="1">
                <a:latin typeface="DM Sans"/>
              </a:rPr>
              <a:t>dengan</a:t>
            </a:r>
            <a:r>
              <a:rPr lang="en-US" sz="3300" dirty="0">
                <a:latin typeface="DM Sans"/>
              </a:rPr>
              <a:t> abstract. Yang </a:t>
            </a:r>
            <a:r>
              <a:rPr lang="en-US" sz="3300" dirty="0" err="1">
                <a:latin typeface="DM Sans"/>
              </a:rPr>
              <a:t>membedakan</a:t>
            </a:r>
            <a:r>
              <a:rPr lang="en-US" sz="3300" dirty="0">
                <a:latin typeface="DM Sans"/>
              </a:rPr>
              <a:t> </a:t>
            </a:r>
            <a:r>
              <a:rPr lang="en-US" sz="3300" dirty="0" err="1">
                <a:latin typeface="DM Sans"/>
              </a:rPr>
              <a:t>adalah</a:t>
            </a:r>
            <a:r>
              <a:rPr lang="en-US" sz="3300" dirty="0">
                <a:latin typeface="DM Sans"/>
              </a:rPr>
              <a:t> pada interface </a:t>
            </a:r>
            <a:r>
              <a:rPr lang="en-US" sz="3300" dirty="0" err="1">
                <a:latin typeface="DM Sans"/>
              </a:rPr>
              <a:t>setiap</a:t>
            </a:r>
            <a:r>
              <a:rPr lang="en-US" sz="3300" dirty="0">
                <a:latin typeface="DM Sans"/>
              </a:rPr>
              <a:t> method </a:t>
            </a:r>
            <a:r>
              <a:rPr lang="en-US" sz="3300" dirty="0" err="1">
                <a:latin typeface="DM Sans"/>
              </a:rPr>
              <a:t>harus</a:t>
            </a:r>
            <a:r>
              <a:rPr lang="en-US" sz="3300" dirty="0">
                <a:latin typeface="DM Sans"/>
              </a:rPr>
              <a:t> </a:t>
            </a:r>
            <a:r>
              <a:rPr lang="en-US" sz="3300" dirty="0" err="1">
                <a:latin typeface="DM Sans"/>
              </a:rPr>
              <a:t>diimplementasikan</a:t>
            </a:r>
            <a:r>
              <a:rPr lang="en-US" sz="3300" dirty="0">
                <a:latin typeface="DM Sans"/>
              </a:rPr>
              <a:t> oleh child/</a:t>
            </a:r>
            <a:r>
              <a:rPr lang="en-US" sz="3300" dirty="0" err="1">
                <a:latin typeface="DM Sans"/>
              </a:rPr>
              <a:t>anak</a:t>
            </a:r>
            <a:r>
              <a:rPr lang="en-US" sz="3300" dirty="0">
                <a:latin typeface="DM Sans"/>
              </a:rPr>
              <a:t> </a:t>
            </a:r>
            <a:r>
              <a:rPr lang="en-US" sz="3300" dirty="0" err="1">
                <a:latin typeface="DM Sans"/>
              </a:rPr>
              <a:t>dari</a:t>
            </a:r>
            <a:r>
              <a:rPr lang="en-US" sz="3300" dirty="0">
                <a:latin typeface="DM Sans"/>
              </a:rPr>
              <a:t> class interface</a:t>
            </a:r>
          </a:p>
        </p:txBody>
      </p:sp>
      <p:graphicFrame>
        <p:nvGraphicFramePr>
          <p:cNvPr id="3" name="Table 2">
            <a:extLst>
              <a:ext uri="{FF2B5EF4-FFF2-40B4-BE49-F238E27FC236}">
                <a16:creationId xmlns:a16="http://schemas.microsoft.com/office/drawing/2014/main" id="{F0B938CF-747C-483C-B2D7-46659A8F0945}"/>
              </a:ext>
            </a:extLst>
          </p:cNvPr>
          <p:cNvGraphicFramePr>
            <a:graphicFrameLocks noGrp="1"/>
          </p:cNvGraphicFramePr>
          <p:nvPr>
            <p:extLst>
              <p:ext uri="{D42A27DB-BD31-4B8C-83A1-F6EECF244321}">
                <p14:modId xmlns:p14="http://schemas.microsoft.com/office/powerpoint/2010/main" val="830449935"/>
              </p:ext>
            </p:extLst>
          </p:nvPr>
        </p:nvGraphicFramePr>
        <p:xfrm>
          <a:off x="10515600" y="171757"/>
          <a:ext cx="6359439" cy="3684926"/>
        </p:xfrm>
        <a:graphic>
          <a:graphicData uri="http://schemas.openxmlformats.org/drawingml/2006/table">
            <a:tbl>
              <a:tblPr/>
              <a:tblGrid>
                <a:gridCol w="493973">
                  <a:extLst>
                    <a:ext uri="{9D8B030D-6E8A-4147-A177-3AD203B41FA5}">
                      <a16:colId xmlns:a16="http://schemas.microsoft.com/office/drawing/2014/main" val="1162124796"/>
                    </a:ext>
                  </a:extLst>
                </a:gridCol>
                <a:gridCol w="5865466">
                  <a:extLst>
                    <a:ext uri="{9D8B030D-6E8A-4147-A177-3AD203B41FA5}">
                      <a16:colId xmlns:a16="http://schemas.microsoft.com/office/drawing/2014/main" val="2591818738"/>
                    </a:ext>
                  </a:extLst>
                </a:gridCol>
              </a:tblGrid>
              <a:tr h="3684926">
                <a:tc>
                  <a:txBody>
                    <a:bodyPr/>
                    <a:lstStyle/>
                    <a:p>
                      <a:pPr algn="ctr" fontAlgn="t"/>
                      <a:r>
                        <a:rPr lang="en-US" sz="2000" b="0">
                          <a:solidFill>
                            <a:srgbClr val="5499DE"/>
                          </a:solidFill>
                          <a:effectLst/>
                          <a:latin typeface="inherit"/>
                        </a:rPr>
                        <a:t>3</a:t>
                      </a:r>
                    </a:p>
                    <a:p>
                      <a:pPr algn="ctr" fontAlgn="t"/>
                      <a:r>
                        <a:rPr lang="en-US" sz="2000" b="0">
                          <a:solidFill>
                            <a:srgbClr val="317CC5"/>
                          </a:solidFill>
                          <a:effectLst/>
                          <a:latin typeface="inherit"/>
                        </a:rPr>
                        <a:t>4</a:t>
                      </a:r>
                    </a:p>
                    <a:p>
                      <a:pPr algn="ctr" fontAlgn="t"/>
                      <a:r>
                        <a:rPr lang="en-US" sz="2000" b="0">
                          <a:solidFill>
                            <a:srgbClr val="5499DE"/>
                          </a:solidFill>
                          <a:effectLst/>
                          <a:latin typeface="inherit"/>
                        </a:rPr>
                        <a:t>5</a:t>
                      </a:r>
                    </a:p>
                    <a:p>
                      <a:pPr algn="ctr" fontAlgn="t"/>
                      <a:r>
                        <a:rPr lang="en-US" sz="2000" b="0">
                          <a:solidFill>
                            <a:srgbClr val="317CC5"/>
                          </a:solidFill>
                          <a:effectLst/>
                          <a:latin typeface="inherit"/>
                        </a:rPr>
                        <a:t>6</a:t>
                      </a:r>
                    </a:p>
                    <a:p>
                      <a:pPr algn="ctr" fontAlgn="t"/>
                      <a:r>
                        <a:rPr lang="en-US" sz="2000" b="0">
                          <a:solidFill>
                            <a:srgbClr val="5499DE"/>
                          </a:solidFill>
                          <a:effectLst/>
                          <a:latin typeface="inherit"/>
                        </a:rPr>
                        <a:t>7</a:t>
                      </a:r>
                    </a:p>
                  </a:txBody>
                  <a:tcPr>
                    <a:lnL>
                      <a:noFill/>
                    </a:lnL>
                    <a:lnR>
                      <a:noFill/>
                    </a:lnR>
                    <a:lnT>
                      <a:noFill/>
                    </a:lnT>
                    <a:lnB>
                      <a:noFill/>
                    </a:lnB>
                    <a:solidFill>
                      <a:srgbClr val="DFEFFF"/>
                    </a:solidFill>
                  </a:tcPr>
                </a:tc>
                <a:tc>
                  <a:txBody>
                    <a:bodyPr/>
                    <a:lstStyle/>
                    <a:p>
                      <a:pPr algn="l" fontAlgn="t"/>
                      <a:r>
                        <a:rPr lang="en-US" sz="2000" b="0" dirty="0">
                          <a:solidFill>
                            <a:srgbClr val="FF8000"/>
                          </a:solidFill>
                          <a:effectLst/>
                          <a:latin typeface="inherit"/>
                        </a:rPr>
                        <a:t>/* Nama file: MyInterface.java*/</a:t>
                      </a:r>
                      <a:endParaRPr lang="en-US" sz="2000" b="0" dirty="0">
                        <a:solidFill>
                          <a:srgbClr val="000000"/>
                        </a:solidFill>
                        <a:effectLst/>
                        <a:latin typeface="inherit"/>
                      </a:endParaRPr>
                    </a:p>
                    <a:p>
                      <a:pPr algn="l" fontAlgn="t"/>
                      <a:r>
                        <a:rPr lang="en-US" sz="2000" b="0" dirty="0">
                          <a:solidFill>
                            <a:srgbClr val="800080"/>
                          </a:solidFill>
                          <a:effectLst/>
                          <a:latin typeface="inherit"/>
                        </a:rPr>
                        <a:t>interface</a:t>
                      </a:r>
                      <a:r>
                        <a:rPr lang="en-US" sz="2000" b="0" dirty="0">
                          <a:solidFill>
                            <a:srgbClr val="006FE0"/>
                          </a:solidFill>
                          <a:effectLst/>
                          <a:latin typeface="inherit"/>
                        </a:rPr>
                        <a:t> </a:t>
                      </a:r>
                      <a:r>
                        <a:rPr lang="en-US" sz="2000" b="0" dirty="0" err="1">
                          <a:solidFill>
                            <a:srgbClr val="004ED0"/>
                          </a:solidFill>
                          <a:effectLst/>
                          <a:latin typeface="inherit"/>
                        </a:rPr>
                        <a:t>MyInterface</a:t>
                      </a:r>
                      <a:r>
                        <a:rPr lang="en-US" sz="2000" b="0" dirty="0">
                          <a:solidFill>
                            <a:srgbClr val="006FE0"/>
                          </a:solidFill>
                          <a:effectLst/>
                          <a:latin typeface="inherit"/>
                        </a:rPr>
                        <a:t> </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a:solidFill>
                            <a:srgbClr val="800080"/>
                          </a:solidFill>
                          <a:effectLst/>
                          <a:latin typeface="inherit"/>
                        </a:rPr>
                        <a:t>public</a:t>
                      </a:r>
                      <a:r>
                        <a:rPr lang="en-US" sz="2000" b="0" dirty="0">
                          <a:solidFill>
                            <a:srgbClr val="006FE0"/>
                          </a:solidFill>
                          <a:effectLst/>
                          <a:latin typeface="inherit"/>
                        </a:rPr>
                        <a:t> </a:t>
                      </a:r>
                      <a:r>
                        <a:rPr lang="en-US" sz="2000" b="0" dirty="0">
                          <a:solidFill>
                            <a:srgbClr val="800080"/>
                          </a:solidFill>
                          <a:effectLst/>
                          <a:latin typeface="inherit"/>
                        </a:rPr>
                        <a:t>void</a:t>
                      </a:r>
                      <a:r>
                        <a:rPr lang="en-US" sz="2000" b="0" dirty="0">
                          <a:solidFill>
                            <a:srgbClr val="006FE0"/>
                          </a:solidFill>
                          <a:effectLst/>
                          <a:latin typeface="inherit"/>
                        </a:rPr>
                        <a:t> </a:t>
                      </a:r>
                      <a:r>
                        <a:rPr lang="en-US" sz="2000" b="0" dirty="0" err="1">
                          <a:solidFill>
                            <a:srgbClr val="004ED0"/>
                          </a:solidFill>
                          <a:effectLst/>
                          <a:latin typeface="inherit"/>
                        </a:rPr>
                        <a:t>berlari</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a:solidFill>
                            <a:srgbClr val="800080"/>
                          </a:solidFill>
                          <a:effectLst/>
                          <a:latin typeface="inherit"/>
                        </a:rPr>
                        <a:t>public</a:t>
                      </a:r>
                      <a:r>
                        <a:rPr lang="en-US" sz="2000" b="0" dirty="0">
                          <a:solidFill>
                            <a:srgbClr val="006FE0"/>
                          </a:solidFill>
                          <a:effectLst/>
                          <a:latin typeface="inherit"/>
                        </a:rPr>
                        <a:t> </a:t>
                      </a:r>
                      <a:r>
                        <a:rPr lang="en-US" sz="2000" b="0" dirty="0">
                          <a:solidFill>
                            <a:srgbClr val="800080"/>
                          </a:solidFill>
                          <a:effectLst/>
                          <a:latin typeface="inherit"/>
                        </a:rPr>
                        <a:t>void</a:t>
                      </a:r>
                      <a:r>
                        <a:rPr lang="en-US" sz="2000" b="0" dirty="0">
                          <a:solidFill>
                            <a:srgbClr val="006FE0"/>
                          </a:solidFill>
                          <a:effectLst/>
                          <a:latin typeface="inherit"/>
                        </a:rPr>
                        <a:t> </a:t>
                      </a:r>
                      <a:r>
                        <a:rPr lang="en-US" sz="2000" b="0" dirty="0" err="1">
                          <a:solidFill>
                            <a:srgbClr val="004ED0"/>
                          </a:solidFill>
                          <a:effectLst/>
                          <a:latin typeface="inherit"/>
                        </a:rPr>
                        <a:t>makan</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endParaRPr lang="en-US" sz="2000" b="0" dirty="0">
                        <a:solidFill>
                          <a:srgbClr val="000000"/>
                        </a:solidFill>
                        <a:effectLst/>
                        <a:latin typeface="inherit"/>
                      </a:endParaRPr>
                    </a:p>
                    <a:p>
                      <a:pPr algn="l" fontAlgn="t"/>
                      <a:r>
                        <a:rPr lang="en-US" sz="2000" b="0" dirty="0">
                          <a:solidFill>
                            <a:srgbClr val="333333"/>
                          </a:solidFill>
                          <a:effectLst/>
                          <a:latin typeface="inherit"/>
                        </a:rPr>
                        <a:t>}</a:t>
                      </a:r>
                    </a:p>
                    <a:p>
                      <a:pPr algn="l"/>
                      <a:r>
                        <a:rPr lang="en-US" sz="2000" b="0" i="0" dirty="0">
                          <a:solidFill>
                            <a:srgbClr val="800080"/>
                          </a:solidFill>
                          <a:effectLst/>
                          <a:latin typeface="inherit"/>
                        </a:rPr>
                        <a:t>public</a:t>
                      </a:r>
                      <a:r>
                        <a:rPr lang="en-US" sz="2000" b="0" i="0" dirty="0">
                          <a:solidFill>
                            <a:srgbClr val="006FE0"/>
                          </a:solidFill>
                          <a:effectLst/>
                          <a:latin typeface="inherit"/>
                        </a:rPr>
                        <a:t> </a:t>
                      </a:r>
                      <a:r>
                        <a:rPr lang="en-US" sz="2000" b="0" i="0" dirty="0">
                          <a:solidFill>
                            <a:srgbClr val="800080"/>
                          </a:solidFill>
                          <a:effectLst/>
                          <a:latin typeface="inherit"/>
                        </a:rPr>
                        <a:t>abstract</a:t>
                      </a:r>
                      <a:r>
                        <a:rPr lang="en-US" sz="2000" b="0" i="0" dirty="0">
                          <a:solidFill>
                            <a:srgbClr val="006FE0"/>
                          </a:solidFill>
                          <a:effectLst/>
                          <a:latin typeface="inherit"/>
                        </a:rPr>
                        <a:t> </a:t>
                      </a:r>
                      <a:r>
                        <a:rPr lang="en-US" sz="2000" b="0" i="0" dirty="0">
                          <a:solidFill>
                            <a:srgbClr val="800080"/>
                          </a:solidFill>
                          <a:effectLst/>
                          <a:latin typeface="inherit"/>
                        </a:rPr>
                        <a:t>class</a:t>
                      </a:r>
                      <a:r>
                        <a:rPr lang="en-US" sz="2000" b="0" i="0" dirty="0">
                          <a:solidFill>
                            <a:srgbClr val="006FE0"/>
                          </a:solidFill>
                          <a:effectLst/>
                          <a:latin typeface="inherit"/>
                        </a:rPr>
                        <a:t> </a:t>
                      </a:r>
                      <a:r>
                        <a:rPr lang="en-US" sz="2000" b="0" i="0" dirty="0" err="1">
                          <a:solidFill>
                            <a:srgbClr val="004ED0"/>
                          </a:solidFill>
                          <a:effectLst/>
                          <a:latin typeface="inherit"/>
                        </a:rPr>
                        <a:t>Entitas</a:t>
                      </a:r>
                      <a:r>
                        <a:rPr lang="en-US" sz="2000" b="0" i="0" dirty="0">
                          <a:solidFill>
                            <a:srgbClr val="006FE0"/>
                          </a:solidFill>
                          <a:effectLst/>
                          <a:latin typeface="inherit"/>
                        </a:rPr>
                        <a:t> </a:t>
                      </a:r>
                      <a:r>
                        <a:rPr lang="en-US" sz="2000" b="0" i="0" dirty="0">
                          <a:solidFill>
                            <a:srgbClr val="333333"/>
                          </a:solidFill>
                          <a:effectLst/>
                          <a:latin typeface="inherit"/>
                        </a:rPr>
                        <a:t>{</a:t>
                      </a:r>
                      <a:endParaRPr lang="en-US" sz="2000" b="0" i="0" dirty="0">
                        <a:solidFill>
                          <a:srgbClr val="000000"/>
                        </a:solidFill>
                        <a:effectLst/>
                        <a:latin typeface="Monaco"/>
                      </a:endParaRPr>
                    </a:p>
                    <a:p>
                      <a:pPr algn="l"/>
                      <a:r>
                        <a:rPr lang="en-US" sz="2000" b="0" i="0" dirty="0">
                          <a:solidFill>
                            <a:srgbClr val="333333"/>
                          </a:solidFill>
                          <a:effectLst/>
                          <a:latin typeface="inherit"/>
                        </a:rPr>
                        <a:t>}</a:t>
                      </a:r>
                      <a:endParaRPr lang="en-US" sz="2000" b="0" i="0" dirty="0">
                        <a:solidFill>
                          <a:srgbClr val="000000"/>
                        </a:solidFill>
                        <a:effectLst/>
                        <a:latin typeface="Monaco"/>
                      </a:endParaRPr>
                    </a:p>
                    <a:p>
                      <a:pPr algn="l" fontAlgn="t"/>
                      <a:endParaRPr lang="en-US" sz="2000" b="0" dirty="0">
                        <a:solidFill>
                          <a:srgbClr val="000000"/>
                        </a:solidFill>
                        <a:effectLst/>
                        <a:latin typeface="inherit"/>
                      </a:endParaRPr>
                    </a:p>
                  </a:txBody>
                  <a:tcPr>
                    <a:lnL>
                      <a:noFill/>
                    </a:lnL>
                    <a:lnR>
                      <a:noFill/>
                    </a:lnR>
                    <a:lnT>
                      <a:noFill/>
                    </a:lnT>
                    <a:lnB>
                      <a:noFill/>
                    </a:lnB>
                    <a:solidFill>
                      <a:srgbClr val="FDFDFD"/>
                    </a:solidFill>
                  </a:tcPr>
                </a:tc>
                <a:extLst>
                  <a:ext uri="{0D108BD9-81ED-4DB2-BD59-A6C34878D82A}">
                    <a16:rowId xmlns:a16="http://schemas.microsoft.com/office/drawing/2014/main" val="3555094974"/>
                  </a:ext>
                </a:extLst>
              </a:tr>
            </a:tbl>
          </a:graphicData>
        </a:graphic>
      </p:graphicFrame>
      <p:graphicFrame>
        <p:nvGraphicFramePr>
          <p:cNvPr id="7" name="Table 6">
            <a:extLst>
              <a:ext uri="{FF2B5EF4-FFF2-40B4-BE49-F238E27FC236}">
                <a16:creationId xmlns:a16="http://schemas.microsoft.com/office/drawing/2014/main" id="{2A3CA554-CB93-4579-ADC0-F19983B0AE58}"/>
              </a:ext>
            </a:extLst>
          </p:cNvPr>
          <p:cNvGraphicFramePr>
            <a:graphicFrameLocks noGrp="1"/>
          </p:cNvGraphicFramePr>
          <p:nvPr>
            <p:extLst>
              <p:ext uri="{D42A27DB-BD31-4B8C-83A1-F6EECF244321}">
                <p14:modId xmlns:p14="http://schemas.microsoft.com/office/powerpoint/2010/main" val="669164463"/>
              </p:ext>
            </p:extLst>
          </p:nvPr>
        </p:nvGraphicFramePr>
        <p:xfrm>
          <a:off x="10497015" y="3976190"/>
          <a:ext cx="6359439" cy="4924280"/>
        </p:xfrm>
        <a:graphic>
          <a:graphicData uri="http://schemas.openxmlformats.org/drawingml/2006/table">
            <a:tbl>
              <a:tblPr/>
              <a:tblGrid>
                <a:gridCol w="504612">
                  <a:extLst>
                    <a:ext uri="{9D8B030D-6E8A-4147-A177-3AD203B41FA5}">
                      <a16:colId xmlns:a16="http://schemas.microsoft.com/office/drawing/2014/main" val="2780634406"/>
                    </a:ext>
                  </a:extLst>
                </a:gridCol>
                <a:gridCol w="5854827">
                  <a:extLst>
                    <a:ext uri="{9D8B030D-6E8A-4147-A177-3AD203B41FA5}">
                      <a16:colId xmlns:a16="http://schemas.microsoft.com/office/drawing/2014/main" val="3673156525"/>
                    </a:ext>
                  </a:extLst>
                </a:gridCol>
              </a:tblGrid>
              <a:tr h="4119256">
                <a:tc>
                  <a:txBody>
                    <a:bodyPr/>
                    <a:lstStyle/>
                    <a:p>
                      <a:pPr algn="ctr" fontAlgn="t"/>
                      <a:br>
                        <a:rPr lang="en-US" sz="2000" b="0">
                          <a:solidFill>
                            <a:srgbClr val="5499DE"/>
                          </a:solidFill>
                          <a:effectLst/>
                          <a:latin typeface="inherit"/>
                        </a:rPr>
                      </a:br>
                      <a:r>
                        <a:rPr lang="en-US" sz="2000" b="0">
                          <a:solidFill>
                            <a:srgbClr val="5499DE"/>
                          </a:solidFill>
                          <a:effectLst/>
                          <a:latin typeface="inherit"/>
                        </a:rPr>
                        <a:t>5</a:t>
                      </a:r>
                    </a:p>
                    <a:p>
                      <a:pPr algn="ctr" fontAlgn="t"/>
                      <a:r>
                        <a:rPr lang="en-US" sz="2000" b="0">
                          <a:solidFill>
                            <a:srgbClr val="317CC5"/>
                          </a:solidFill>
                          <a:effectLst/>
                          <a:latin typeface="inherit"/>
                        </a:rPr>
                        <a:t>6</a:t>
                      </a:r>
                    </a:p>
                    <a:p>
                      <a:pPr algn="ctr" fontAlgn="t"/>
                      <a:r>
                        <a:rPr lang="en-US" sz="2000" b="0">
                          <a:solidFill>
                            <a:srgbClr val="5499DE"/>
                          </a:solidFill>
                          <a:effectLst/>
                          <a:latin typeface="inherit"/>
                        </a:rPr>
                        <a:t>7</a:t>
                      </a:r>
                    </a:p>
                    <a:p>
                      <a:pPr algn="ctr" fontAlgn="t"/>
                      <a:r>
                        <a:rPr lang="en-US" sz="2000" b="0">
                          <a:solidFill>
                            <a:srgbClr val="317CC5"/>
                          </a:solidFill>
                          <a:effectLst/>
                          <a:latin typeface="inherit"/>
                        </a:rPr>
                        <a:t>8</a:t>
                      </a:r>
                    </a:p>
                    <a:p>
                      <a:pPr algn="ctr" fontAlgn="t"/>
                      <a:r>
                        <a:rPr lang="en-US" sz="2000" b="0">
                          <a:solidFill>
                            <a:srgbClr val="5499DE"/>
                          </a:solidFill>
                          <a:effectLst/>
                          <a:latin typeface="inherit"/>
                        </a:rPr>
                        <a:t>9</a:t>
                      </a:r>
                    </a:p>
                    <a:p>
                      <a:pPr algn="ctr" fontAlgn="t"/>
                      <a:r>
                        <a:rPr lang="en-US" sz="2000" b="0">
                          <a:solidFill>
                            <a:srgbClr val="317CC5"/>
                          </a:solidFill>
                          <a:effectLst/>
                          <a:latin typeface="inherit"/>
                        </a:rPr>
                        <a:t>10</a:t>
                      </a:r>
                    </a:p>
                    <a:p>
                      <a:pPr algn="ctr" fontAlgn="t"/>
                      <a:r>
                        <a:rPr lang="en-US" sz="2000" b="0">
                          <a:solidFill>
                            <a:srgbClr val="5499DE"/>
                          </a:solidFill>
                          <a:effectLst/>
                          <a:latin typeface="inherit"/>
                        </a:rPr>
                        <a:t>11</a:t>
                      </a:r>
                    </a:p>
                    <a:p>
                      <a:pPr algn="ctr" fontAlgn="t"/>
                      <a:r>
                        <a:rPr lang="en-US" sz="2000" b="0">
                          <a:solidFill>
                            <a:srgbClr val="317CC5"/>
                          </a:solidFill>
                          <a:effectLst/>
                          <a:latin typeface="inherit"/>
                        </a:rPr>
                        <a:t>12</a:t>
                      </a:r>
                    </a:p>
                    <a:p>
                      <a:pPr algn="ctr" fontAlgn="t"/>
                      <a:r>
                        <a:rPr lang="en-US" sz="2000" b="0">
                          <a:solidFill>
                            <a:srgbClr val="5499DE"/>
                          </a:solidFill>
                          <a:effectLst/>
                          <a:latin typeface="inherit"/>
                        </a:rPr>
                        <a:t>13</a:t>
                      </a:r>
                    </a:p>
                    <a:p>
                      <a:pPr algn="ctr" fontAlgn="t"/>
                      <a:r>
                        <a:rPr lang="en-US" sz="2000" b="0">
                          <a:solidFill>
                            <a:srgbClr val="317CC5"/>
                          </a:solidFill>
                          <a:effectLst/>
                          <a:latin typeface="inherit"/>
                        </a:rPr>
                        <a:t>14</a:t>
                      </a:r>
                    </a:p>
                    <a:p>
                      <a:pPr algn="ctr" fontAlgn="t"/>
                      <a:r>
                        <a:rPr lang="en-US" sz="2000" b="0">
                          <a:solidFill>
                            <a:srgbClr val="5499DE"/>
                          </a:solidFill>
                          <a:effectLst/>
                          <a:latin typeface="inherit"/>
                        </a:rPr>
                        <a:t>15</a:t>
                      </a:r>
                    </a:p>
                    <a:p>
                      <a:pPr algn="ctr" fontAlgn="t"/>
                      <a:r>
                        <a:rPr lang="en-US" sz="2000" b="0">
                          <a:solidFill>
                            <a:srgbClr val="317CC5"/>
                          </a:solidFill>
                          <a:effectLst/>
                          <a:latin typeface="inherit"/>
                        </a:rPr>
                        <a:t>16</a:t>
                      </a:r>
                    </a:p>
                    <a:p>
                      <a:pPr algn="ctr" fontAlgn="t"/>
                      <a:r>
                        <a:rPr lang="en-US" sz="2000" b="0">
                          <a:solidFill>
                            <a:srgbClr val="5499DE"/>
                          </a:solidFill>
                          <a:effectLst/>
                          <a:latin typeface="inherit"/>
                        </a:rPr>
                        <a:t>17</a:t>
                      </a:r>
                    </a:p>
                    <a:p>
                      <a:pPr algn="ctr" fontAlgn="t"/>
                      <a:r>
                        <a:rPr lang="en-US" sz="2000" b="0">
                          <a:solidFill>
                            <a:srgbClr val="317CC5"/>
                          </a:solidFill>
                          <a:effectLst/>
                          <a:latin typeface="inherit"/>
                        </a:rPr>
                        <a:t>18</a:t>
                      </a:r>
                    </a:p>
                  </a:txBody>
                  <a:tcPr marL="47479" marR="47479" marT="23740" marB="23740">
                    <a:lnL>
                      <a:noFill/>
                    </a:lnL>
                    <a:lnR>
                      <a:noFill/>
                    </a:lnR>
                    <a:lnT>
                      <a:noFill/>
                    </a:lnT>
                    <a:lnB>
                      <a:noFill/>
                    </a:lnB>
                    <a:solidFill>
                      <a:srgbClr val="DFEFFF"/>
                    </a:solidFill>
                  </a:tcPr>
                </a:tc>
                <a:tc>
                  <a:txBody>
                    <a:bodyPr/>
                    <a:lstStyle/>
                    <a:p>
                      <a:pPr algn="l" fontAlgn="t"/>
                      <a:r>
                        <a:rPr lang="en-US" sz="2000" b="0" dirty="0">
                          <a:solidFill>
                            <a:srgbClr val="800080"/>
                          </a:solidFill>
                          <a:effectLst/>
                          <a:latin typeface="inherit"/>
                        </a:rPr>
                        <a:t>public</a:t>
                      </a:r>
                      <a:r>
                        <a:rPr lang="en-US" sz="2000" b="0" dirty="0">
                          <a:solidFill>
                            <a:srgbClr val="006FE0"/>
                          </a:solidFill>
                          <a:effectLst/>
                          <a:latin typeface="inherit"/>
                        </a:rPr>
                        <a:t> </a:t>
                      </a:r>
                      <a:r>
                        <a:rPr lang="en-US" sz="2000" b="0" dirty="0">
                          <a:solidFill>
                            <a:srgbClr val="800080"/>
                          </a:solidFill>
                          <a:effectLst/>
                          <a:latin typeface="inherit"/>
                        </a:rPr>
                        <a:t>class</a:t>
                      </a:r>
                      <a:r>
                        <a:rPr lang="en-US" sz="2000" b="0" dirty="0">
                          <a:solidFill>
                            <a:srgbClr val="006FE0"/>
                          </a:solidFill>
                          <a:effectLst/>
                          <a:latin typeface="inherit"/>
                        </a:rPr>
                        <a:t> </a:t>
                      </a:r>
                      <a:r>
                        <a:rPr lang="en-US" sz="2000" b="0" dirty="0" err="1">
                          <a:solidFill>
                            <a:srgbClr val="004ED0"/>
                          </a:solidFill>
                          <a:effectLst/>
                          <a:latin typeface="inherit"/>
                        </a:rPr>
                        <a:t>Mahasiswa</a:t>
                      </a:r>
                      <a:r>
                        <a:rPr lang="en-US" sz="2000" b="0" dirty="0">
                          <a:solidFill>
                            <a:srgbClr val="006FE0"/>
                          </a:solidFill>
                          <a:effectLst/>
                          <a:latin typeface="inherit"/>
                        </a:rPr>
                        <a:t> </a:t>
                      </a:r>
                      <a:r>
                        <a:rPr lang="en-US" sz="2000" b="0" dirty="0">
                          <a:solidFill>
                            <a:srgbClr val="800080"/>
                          </a:solidFill>
                          <a:effectLst/>
                          <a:latin typeface="inherit"/>
                        </a:rPr>
                        <a:t>extends</a:t>
                      </a:r>
                      <a:r>
                        <a:rPr lang="en-US" sz="2000" b="0" dirty="0">
                          <a:solidFill>
                            <a:srgbClr val="006FE0"/>
                          </a:solidFill>
                          <a:effectLst/>
                          <a:latin typeface="inherit"/>
                        </a:rPr>
                        <a:t> </a:t>
                      </a:r>
                      <a:r>
                        <a:rPr lang="en-US" sz="2000" b="0" dirty="0" err="1">
                          <a:solidFill>
                            <a:srgbClr val="004ED0"/>
                          </a:solidFill>
                          <a:effectLst/>
                          <a:latin typeface="inherit"/>
                        </a:rPr>
                        <a:t>Entitas</a:t>
                      </a:r>
                      <a:r>
                        <a:rPr lang="en-US" sz="2000" b="0" dirty="0">
                          <a:solidFill>
                            <a:srgbClr val="006FE0"/>
                          </a:solidFill>
                          <a:effectLst/>
                          <a:latin typeface="inherit"/>
                        </a:rPr>
                        <a:t> </a:t>
                      </a:r>
                      <a:r>
                        <a:rPr lang="en-US" sz="2000" b="0" dirty="0">
                          <a:solidFill>
                            <a:srgbClr val="800080"/>
                          </a:solidFill>
                          <a:effectLst/>
                          <a:latin typeface="inherit"/>
                        </a:rPr>
                        <a:t>implements</a:t>
                      </a:r>
                      <a:r>
                        <a:rPr lang="en-US" sz="2000" b="0" dirty="0">
                          <a:solidFill>
                            <a:srgbClr val="006FE0"/>
                          </a:solidFill>
                          <a:effectLst/>
                          <a:latin typeface="inherit"/>
                        </a:rPr>
                        <a:t> </a:t>
                      </a:r>
                      <a:r>
                        <a:rPr lang="en-US" sz="2000" b="0" dirty="0" err="1">
                          <a:solidFill>
                            <a:srgbClr val="004ED0"/>
                          </a:solidFill>
                          <a:effectLst/>
                          <a:latin typeface="inherit"/>
                        </a:rPr>
                        <a:t>MyInterface</a:t>
                      </a:r>
                      <a:r>
                        <a:rPr lang="en-US" sz="2000" b="0" dirty="0">
                          <a:solidFill>
                            <a:srgbClr val="006FE0"/>
                          </a:solidFill>
                          <a:effectLst/>
                          <a:latin typeface="inherit"/>
                        </a:rPr>
                        <a:t>  </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0000"/>
                          </a:solidFill>
                          <a:effectLst/>
                          <a:latin typeface="inherit"/>
                        </a:rPr>
                        <a:t> </a:t>
                      </a:r>
                      <a:r>
                        <a:rPr lang="en-US" sz="2000" b="0" dirty="0">
                          <a:solidFill>
                            <a:srgbClr val="006FE0"/>
                          </a:solidFill>
                          <a:effectLst/>
                          <a:latin typeface="inherit"/>
                        </a:rPr>
                        <a:t>  </a:t>
                      </a:r>
                      <a:r>
                        <a:rPr lang="en-US" sz="2000" b="0" i="1" dirty="0">
                          <a:solidFill>
                            <a:srgbClr val="666666"/>
                          </a:solidFill>
                          <a:effectLst/>
                          <a:latin typeface="inherit"/>
                        </a:rPr>
                        <a:t>@Override</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a:solidFill>
                            <a:srgbClr val="800080"/>
                          </a:solidFill>
                          <a:effectLst/>
                          <a:latin typeface="inherit"/>
                        </a:rPr>
                        <a:t>public</a:t>
                      </a:r>
                      <a:r>
                        <a:rPr lang="en-US" sz="2000" b="0" dirty="0">
                          <a:solidFill>
                            <a:srgbClr val="006FE0"/>
                          </a:solidFill>
                          <a:effectLst/>
                          <a:latin typeface="inherit"/>
                        </a:rPr>
                        <a:t> </a:t>
                      </a:r>
                      <a:r>
                        <a:rPr lang="en-US" sz="2000" b="0" dirty="0">
                          <a:solidFill>
                            <a:srgbClr val="800080"/>
                          </a:solidFill>
                          <a:effectLst/>
                          <a:latin typeface="inherit"/>
                        </a:rPr>
                        <a:t>void</a:t>
                      </a:r>
                      <a:r>
                        <a:rPr lang="en-US" sz="2000" b="0" dirty="0">
                          <a:solidFill>
                            <a:srgbClr val="006FE0"/>
                          </a:solidFill>
                          <a:effectLst/>
                          <a:latin typeface="inherit"/>
                        </a:rPr>
                        <a:t> </a:t>
                      </a:r>
                      <a:r>
                        <a:rPr lang="en-US" sz="2000" b="0" dirty="0" err="1">
                          <a:solidFill>
                            <a:srgbClr val="004ED0"/>
                          </a:solidFill>
                          <a:effectLst/>
                          <a:latin typeface="inherit"/>
                        </a:rPr>
                        <a:t>berlari</a:t>
                      </a:r>
                      <a:r>
                        <a:rPr lang="en-US" sz="2000" b="0" dirty="0">
                          <a:solidFill>
                            <a:srgbClr val="333333"/>
                          </a:solidFill>
                          <a:effectLst/>
                          <a:latin typeface="inherit"/>
                        </a:rPr>
                        <a:t>()</a:t>
                      </a:r>
                      <a:r>
                        <a:rPr lang="en-US" sz="2000" b="0" dirty="0">
                          <a:solidFill>
                            <a:srgbClr val="006FE0"/>
                          </a:solidFill>
                          <a:effectLst/>
                          <a:latin typeface="inherit"/>
                        </a:rPr>
                        <a:t> </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err="1">
                          <a:solidFill>
                            <a:srgbClr val="002D7A"/>
                          </a:solidFill>
                          <a:effectLst/>
                          <a:latin typeface="inherit"/>
                        </a:rPr>
                        <a:t>System</a:t>
                      </a:r>
                      <a:r>
                        <a:rPr lang="en-US" sz="2000" b="0" dirty="0" err="1">
                          <a:solidFill>
                            <a:srgbClr val="333333"/>
                          </a:solidFill>
                          <a:effectLst/>
                          <a:latin typeface="inherit"/>
                        </a:rPr>
                        <a:t>.</a:t>
                      </a:r>
                      <a:r>
                        <a:rPr lang="en-US" sz="2000" b="0" dirty="0" err="1">
                          <a:solidFill>
                            <a:srgbClr val="002D7A"/>
                          </a:solidFill>
                          <a:effectLst/>
                          <a:latin typeface="inherit"/>
                        </a:rPr>
                        <a:t>out</a:t>
                      </a:r>
                      <a:r>
                        <a:rPr lang="en-US" sz="2000" b="0" dirty="0" err="1">
                          <a:solidFill>
                            <a:srgbClr val="333333"/>
                          </a:solidFill>
                          <a:effectLst/>
                          <a:latin typeface="inherit"/>
                        </a:rPr>
                        <a:t>.</a:t>
                      </a:r>
                      <a:r>
                        <a:rPr lang="en-US" sz="2000" b="0" dirty="0" err="1">
                          <a:solidFill>
                            <a:srgbClr val="004ED0"/>
                          </a:solidFill>
                          <a:effectLst/>
                          <a:latin typeface="inherit"/>
                        </a:rPr>
                        <a:t>println</a:t>
                      </a:r>
                      <a:r>
                        <a:rPr lang="en-US" sz="2000" b="0" dirty="0">
                          <a:solidFill>
                            <a:srgbClr val="333333"/>
                          </a:solidFill>
                          <a:effectLst/>
                          <a:latin typeface="inherit"/>
                        </a:rPr>
                        <a:t>(</a:t>
                      </a:r>
                      <a:r>
                        <a:rPr lang="en-US" sz="2000" b="0" dirty="0">
                          <a:solidFill>
                            <a:srgbClr val="008000"/>
                          </a:solidFill>
                          <a:effectLst/>
                          <a:latin typeface="inherit"/>
                        </a:rPr>
                        <a:t>"</a:t>
                      </a:r>
                      <a:r>
                        <a:rPr lang="en-US" sz="2000" b="0" dirty="0" err="1">
                          <a:solidFill>
                            <a:srgbClr val="008000"/>
                          </a:solidFill>
                          <a:effectLst/>
                          <a:latin typeface="inherit"/>
                        </a:rPr>
                        <a:t>Mahasiswa</a:t>
                      </a:r>
                      <a:r>
                        <a:rPr lang="en-US" sz="2000" b="0" dirty="0">
                          <a:solidFill>
                            <a:srgbClr val="008000"/>
                          </a:solidFill>
                          <a:effectLst/>
                          <a:latin typeface="inherit"/>
                        </a:rPr>
                        <a:t> </a:t>
                      </a:r>
                      <a:r>
                        <a:rPr lang="en-US" sz="2000" b="0" dirty="0" err="1">
                          <a:solidFill>
                            <a:srgbClr val="008000"/>
                          </a:solidFill>
                          <a:effectLst/>
                          <a:latin typeface="inherit"/>
                        </a:rPr>
                        <a:t>berlari</a:t>
                      </a:r>
                      <a:r>
                        <a:rPr lang="en-US" sz="2000" b="0" dirty="0">
                          <a:solidFill>
                            <a:srgbClr val="008000"/>
                          </a:solidFill>
                          <a:effectLst/>
                          <a:latin typeface="inherit"/>
                        </a:rPr>
                        <a:t>"</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i="1" dirty="0">
                          <a:solidFill>
                            <a:srgbClr val="666666"/>
                          </a:solidFill>
                          <a:effectLst/>
                          <a:latin typeface="inherit"/>
                        </a:rPr>
                        <a:t>@Override</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a:solidFill>
                            <a:srgbClr val="800080"/>
                          </a:solidFill>
                          <a:effectLst/>
                          <a:latin typeface="inherit"/>
                        </a:rPr>
                        <a:t>public</a:t>
                      </a:r>
                      <a:r>
                        <a:rPr lang="en-US" sz="2000" b="0" dirty="0">
                          <a:solidFill>
                            <a:srgbClr val="006FE0"/>
                          </a:solidFill>
                          <a:effectLst/>
                          <a:latin typeface="inherit"/>
                        </a:rPr>
                        <a:t> </a:t>
                      </a:r>
                      <a:r>
                        <a:rPr lang="en-US" sz="2000" b="0" dirty="0">
                          <a:solidFill>
                            <a:srgbClr val="800080"/>
                          </a:solidFill>
                          <a:effectLst/>
                          <a:latin typeface="inherit"/>
                        </a:rPr>
                        <a:t>void</a:t>
                      </a:r>
                      <a:r>
                        <a:rPr lang="en-US" sz="2000" b="0" dirty="0">
                          <a:solidFill>
                            <a:srgbClr val="006FE0"/>
                          </a:solidFill>
                          <a:effectLst/>
                          <a:latin typeface="inherit"/>
                        </a:rPr>
                        <a:t> </a:t>
                      </a:r>
                      <a:r>
                        <a:rPr lang="en-US" sz="2000" b="0" dirty="0" err="1">
                          <a:solidFill>
                            <a:srgbClr val="004ED0"/>
                          </a:solidFill>
                          <a:effectLst/>
                          <a:latin typeface="inherit"/>
                        </a:rPr>
                        <a:t>makan</a:t>
                      </a:r>
                      <a:r>
                        <a:rPr lang="en-US" sz="2000" b="0" dirty="0">
                          <a:solidFill>
                            <a:srgbClr val="333333"/>
                          </a:solidFill>
                          <a:effectLst/>
                          <a:latin typeface="inherit"/>
                        </a:rPr>
                        <a:t>()</a:t>
                      </a:r>
                      <a:r>
                        <a:rPr lang="en-US" sz="2000" b="0" dirty="0">
                          <a:solidFill>
                            <a:srgbClr val="006FE0"/>
                          </a:solidFill>
                          <a:effectLst/>
                          <a:latin typeface="inherit"/>
                        </a:rPr>
                        <a:t> </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err="1">
                          <a:solidFill>
                            <a:srgbClr val="002D7A"/>
                          </a:solidFill>
                          <a:effectLst/>
                          <a:latin typeface="inherit"/>
                        </a:rPr>
                        <a:t>System</a:t>
                      </a:r>
                      <a:r>
                        <a:rPr lang="en-US" sz="2000" b="0" dirty="0" err="1">
                          <a:solidFill>
                            <a:srgbClr val="333333"/>
                          </a:solidFill>
                          <a:effectLst/>
                          <a:latin typeface="inherit"/>
                        </a:rPr>
                        <a:t>.</a:t>
                      </a:r>
                      <a:r>
                        <a:rPr lang="en-US" sz="2000" b="0" dirty="0" err="1">
                          <a:solidFill>
                            <a:srgbClr val="002D7A"/>
                          </a:solidFill>
                          <a:effectLst/>
                          <a:latin typeface="inherit"/>
                        </a:rPr>
                        <a:t>out</a:t>
                      </a:r>
                      <a:r>
                        <a:rPr lang="en-US" sz="2000" b="0" dirty="0" err="1">
                          <a:solidFill>
                            <a:srgbClr val="333333"/>
                          </a:solidFill>
                          <a:effectLst/>
                          <a:latin typeface="inherit"/>
                        </a:rPr>
                        <a:t>.</a:t>
                      </a:r>
                      <a:r>
                        <a:rPr lang="en-US" sz="2000" b="0" dirty="0" err="1">
                          <a:solidFill>
                            <a:srgbClr val="004ED0"/>
                          </a:solidFill>
                          <a:effectLst/>
                          <a:latin typeface="inherit"/>
                        </a:rPr>
                        <a:t>println</a:t>
                      </a:r>
                      <a:r>
                        <a:rPr lang="en-US" sz="2000" b="0" dirty="0">
                          <a:solidFill>
                            <a:srgbClr val="333333"/>
                          </a:solidFill>
                          <a:effectLst/>
                          <a:latin typeface="inherit"/>
                        </a:rPr>
                        <a:t>(</a:t>
                      </a:r>
                      <a:r>
                        <a:rPr lang="en-US" sz="2000" b="0" dirty="0">
                          <a:solidFill>
                            <a:srgbClr val="008000"/>
                          </a:solidFill>
                          <a:effectLst/>
                          <a:latin typeface="inherit"/>
                        </a:rPr>
                        <a:t>"</a:t>
                      </a:r>
                      <a:r>
                        <a:rPr lang="en-US" sz="2000" b="0" dirty="0" err="1">
                          <a:solidFill>
                            <a:srgbClr val="008000"/>
                          </a:solidFill>
                          <a:effectLst/>
                          <a:latin typeface="inherit"/>
                        </a:rPr>
                        <a:t>Mahasiswa</a:t>
                      </a:r>
                      <a:r>
                        <a:rPr lang="en-US" sz="2000" b="0" dirty="0">
                          <a:solidFill>
                            <a:srgbClr val="008000"/>
                          </a:solidFill>
                          <a:effectLst/>
                          <a:latin typeface="inherit"/>
                        </a:rPr>
                        <a:t> </a:t>
                      </a:r>
                      <a:r>
                        <a:rPr lang="en-US" sz="2000" b="0" dirty="0" err="1">
                          <a:solidFill>
                            <a:srgbClr val="008000"/>
                          </a:solidFill>
                          <a:effectLst/>
                          <a:latin typeface="inherit"/>
                        </a:rPr>
                        <a:t>makan</a:t>
                      </a:r>
                      <a:r>
                        <a:rPr lang="en-US" sz="2000" b="0" dirty="0">
                          <a:solidFill>
                            <a:srgbClr val="008000"/>
                          </a:solidFill>
                          <a:effectLst/>
                          <a:latin typeface="inherit"/>
                        </a:rPr>
                        <a:t>"</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a:solidFill>
                            <a:srgbClr val="333333"/>
                          </a:solidFill>
                          <a:effectLst/>
                          <a:latin typeface="inherit"/>
                        </a:rPr>
                        <a:t>}</a:t>
                      </a:r>
                      <a:r>
                        <a:rPr lang="en-US" sz="2000" b="0" dirty="0">
                          <a:solidFill>
                            <a:srgbClr val="006FE0"/>
                          </a:solidFill>
                          <a:effectLst/>
                          <a:latin typeface="inherit"/>
                        </a:rPr>
                        <a:t>  </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a:solidFill>
                            <a:srgbClr val="800080"/>
                          </a:solidFill>
                          <a:effectLst/>
                          <a:latin typeface="inherit"/>
                        </a:rPr>
                        <a:t>public</a:t>
                      </a:r>
                      <a:r>
                        <a:rPr lang="en-US" sz="2000" b="0" dirty="0">
                          <a:solidFill>
                            <a:srgbClr val="006FE0"/>
                          </a:solidFill>
                          <a:effectLst/>
                          <a:latin typeface="inherit"/>
                        </a:rPr>
                        <a:t> </a:t>
                      </a:r>
                      <a:r>
                        <a:rPr lang="en-US" sz="2000" b="0" dirty="0">
                          <a:solidFill>
                            <a:srgbClr val="800080"/>
                          </a:solidFill>
                          <a:effectLst/>
                          <a:latin typeface="inherit"/>
                        </a:rPr>
                        <a:t>static</a:t>
                      </a:r>
                      <a:r>
                        <a:rPr lang="en-US" sz="2000" b="0" dirty="0">
                          <a:solidFill>
                            <a:srgbClr val="006FE0"/>
                          </a:solidFill>
                          <a:effectLst/>
                          <a:latin typeface="inherit"/>
                        </a:rPr>
                        <a:t> </a:t>
                      </a:r>
                      <a:r>
                        <a:rPr lang="en-US" sz="2000" b="0" dirty="0">
                          <a:solidFill>
                            <a:srgbClr val="800080"/>
                          </a:solidFill>
                          <a:effectLst/>
                          <a:latin typeface="inherit"/>
                        </a:rPr>
                        <a:t>void</a:t>
                      </a:r>
                      <a:r>
                        <a:rPr lang="en-US" sz="2000" b="0" dirty="0">
                          <a:solidFill>
                            <a:srgbClr val="006FE0"/>
                          </a:solidFill>
                          <a:effectLst/>
                          <a:latin typeface="inherit"/>
                        </a:rPr>
                        <a:t> </a:t>
                      </a:r>
                      <a:r>
                        <a:rPr lang="en-US" sz="2000" b="0" dirty="0">
                          <a:solidFill>
                            <a:srgbClr val="004ED0"/>
                          </a:solidFill>
                          <a:effectLst/>
                          <a:latin typeface="inherit"/>
                        </a:rPr>
                        <a:t>main</a:t>
                      </a:r>
                      <a:r>
                        <a:rPr lang="en-US" sz="2000" b="0" dirty="0">
                          <a:solidFill>
                            <a:srgbClr val="006FE0"/>
                          </a:solidFill>
                          <a:effectLst/>
                          <a:latin typeface="inherit"/>
                        </a:rPr>
                        <a:t> </a:t>
                      </a:r>
                      <a:r>
                        <a:rPr lang="en-US" sz="2000" b="0" dirty="0">
                          <a:solidFill>
                            <a:srgbClr val="333333"/>
                          </a:solidFill>
                          <a:effectLst/>
                          <a:latin typeface="inherit"/>
                        </a:rPr>
                        <a:t>(</a:t>
                      </a:r>
                      <a:r>
                        <a:rPr lang="en-US" sz="2000" b="0" dirty="0">
                          <a:solidFill>
                            <a:srgbClr val="800080"/>
                          </a:solidFill>
                          <a:effectLst/>
                          <a:latin typeface="inherit"/>
                        </a:rPr>
                        <a:t>String</a:t>
                      </a:r>
                      <a:r>
                        <a:rPr lang="en-US" sz="2000" b="0" dirty="0">
                          <a:solidFill>
                            <a:srgbClr val="006FE0"/>
                          </a:solidFill>
                          <a:effectLst/>
                          <a:latin typeface="inherit"/>
                        </a:rPr>
                        <a:t> </a:t>
                      </a:r>
                      <a:r>
                        <a:rPr lang="en-US" sz="2000" b="0" dirty="0" err="1">
                          <a:solidFill>
                            <a:srgbClr val="000000"/>
                          </a:solidFill>
                          <a:effectLst/>
                          <a:latin typeface="inherit"/>
                        </a:rPr>
                        <a:t>args</a:t>
                      </a:r>
                      <a:r>
                        <a:rPr lang="en-US" sz="2000" b="0" dirty="0">
                          <a:solidFill>
                            <a:srgbClr val="006FE0"/>
                          </a:solidFill>
                          <a:effectLst/>
                          <a:latin typeface="inherit"/>
                        </a:rPr>
                        <a:t> </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err="1">
                          <a:solidFill>
                            <a:srgbClr val="000000"/>
                          </a:solidFill>
                          <a:effectLst/>
                          <a:latin typeface="inherit"/>
                        </a:rPr>
                        <a:t>Mahasiswa</a:t>
                      </a:r>
                      <a:r>
                        <a:rPr lang="en-US" sz="2000" b="0" dirty="0">
                          <a:solidFill>
                            <a:srgbClr val="006FE0"/>
                          </a:solidFill>
                          <a:effectLst/>
                          <a:latin typeface="inherit"/>
                        </a:rPr>
                        <a:t> </a:t>
                      </a:r>
                      <a:r>
                        <a:rPr lang="en-US" sz="2000" b="0" dirty="0">
                          <a:solidFill>
                            <a:srgbClr val="002D7A"/>
                          </a:solidFill>
                          <a:effectLst/>
                          <a:latin typeface="inherit"/>
                        </a:rPr>
                        <a:t>m</a:t>
                      </a:r>
                      <a:r>
                        <a:rPr lang="en-US" sz="2000" b="0" dirty="0">
                          <a:solidFill>
                            <a:srgbClr val="006FE0"/>
                          </a:solidFill>
                          <a:effectLst/>
                          <a:latin typeface="inherit"/>
                        </a:rPr>
                        <a:t> = </a:t>
                      </a:r>
                      <a:r>
                        <a:rPr lang="en-US" sz="2000" b="0" dirty="0">
                          <a:solidFill>
                            <a:srgbClr val="800080"/>
                          </a:solidFill>
                          <a:effectLst/>
                          <a:latin typeface="inherit"/>
                        </a:rPr>
                        <a:t>new</a:t>
                      </a:r>
                      <a:r>
                        <a:rPr lang="en-US" sz="2000" b="0" dirty="0">
                          <a:solidFill>
                            <a:srgbClr val="006FE0"/>
                          </a:solidFill>
                          <a:effectLst/>
                          <a:latin typeface="inherit"/>
                        </a:rPr>
                        <a:t> </a:t>
                      </a:r>
                      <a:r>
                        <a:rPr lang="en-US" sz="2000" b="0" dirty="0" err="1">
                          <a:solidFill>
                            <a:srgbClr val="004ED0"/>
                          </a:solidFill>
                          <a:effectLst/>
                          <a:latin typeface="inherit"/>
                        </a:rPr>
                        <a:t>Mahasiswa</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err="1">
                          <a:solidFill>
                            <a:srgbClr val="002D7A"/>
                          </a:solidFill>
                          <a:effectLst/>
                          <a:latin typeface="inherit"/>
                        </a:rPr>
                        <a:t>m</a:t>
                      </a:r>
                      <a:r>
                        <a:rPr lang="en-US" sz="2000" b="0" dirty="0" err="1">
                          <a:solidFill>
                            <a:srgbClr val="333333"/>
                          </a:solidFill>
                          <a:effectLst/>
                          <a:latin typeface="inherit"/>
                        </a:rPr>
                        <a:t>.</a:t>
                      </a:r>
                      <a:r>
                        <a:rPr lang="en-US" sz="2000" b="0" dirty="0" err="1">
                          <a:solidFill>
                            <a:srgbClr val="004ED0"/>
                          </a:solidFill>
                          <a:effectLst/>
                          <a:latin typeface="inherit"/>
                        </a:rPr>
                        <a:t>berlari</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err="1">
                          <a:solidFill>
                            <a:srgbClr val="002D7A"/>
                          </a:solidFill>
                          <a:effectLst/>
                          <a:latin typeface="inherit"/>
                        </a:rPr>
                        <a:t>m</a:t>
                      </a:r>
                      <a:r>
                        <a:rPr lang="en-US" sz="2000" b="0" dirty="0" err="1">
                          <a:solidFill>
                            <a:srgbClr val="333333"/>
                          </a:solidFill>
                          <a:effectLst/>
                          <a:latin typeface="inherit"/>
                        </a:rPr>
                        <a:t>.</a:t>
                      </a:r>
                      <a:r>
                        <a:rPr lang="en-US" sz="2000" b="0" dirty="0" err="1">
                          <a:solidFill>
                            <a:srgbClr val="004ED0"/>
                          </a:solidFill>
                          <a:effectLst/>
                          <a:latin typeface="inherit"/>
                        </a:rPr>
                        <a:t>makan</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006FE0"/>
                          </a:solidFill>
                          <a:effectLst/>
                          <a:latin typeface="inherit"/>
                        </a:rPr>
                        <a:t>    </a:t>
                      </a:r>
                      <a:r>
                        <a:rPr lang="en-US" sz="2000" b="0" dirty="0">
                          <a:solidFill>
                            <a:srgbClr val="333333"/>
                          </a:solidFill>
                          <a:effectLst/>
                          <a:latin typeface="inherit"/>
                        </a:rPr>
                        <a:t>}</a:t>
                      </a:r>
                      <a:endParaRPr lang="en-US" sz="2000" b="0" dirty="0">
                        <a:solidFill>
                          <a:srgbClr val="000000"/>
                        </a:solidFill>
                        <a:effectLst/>
                        <a:latin typeface="inherit"/>
                      </a:endParaRPr>
                    </a:p>
                    <a:p>
                      <a:pPr algn="l" fontAlgn="t"/>
                      <a:r>
                        <a:rPr lang="en-US" sz="2000" b="0" dirty="0">
                          <a:solidFill>
                            <a:srgbClr val="333333"/>
                          </a:solidFill>
                          <a:effectLst/>
                          <a:latin typeface="inherit"/>
                        </a:rPr>
                        <a:t>}</a:t>
                      </a:r>
                      <a:endParaRPr lang="en-US" sz="2000" b="0" dirty="0">
                        <a:solidFill>
                          <a:srgbClr val="000000"/>
                        </a:solidFill>
                        <a:effectLst/>
                        <a:latin typeface="inherit"/>
                      </a:endParaRPr>
                    </a:p>
                  </a:txBody>
                  <a:tcPr marL="47479" marR="47479" marT="23740" marB="23740">
                    <a:lnL>
                      <a:noFill/>
                    </a:lnL>
                    <a:lnR>
                      <a:noFill/>
                    </a:lnR>
                    <a:lnT>
                      <a:noFill/>
                    </a:lnT>
                    <a:lnB>
                      <a:noFill/>
                    </a:lnB>
                    <a:solidFill>
                      <a:srgbClr val="FDFDFD"/>
                    </a:solidFill>
                  </a:tcPr>
                </a:tc>
                <a:extLst>
                  <a:ext uri="{0D108BD9-81ED-4DB2-BD59-A6C34878D82A}">
                    <a16:rowId xmlns:a16="http://schemas.microsoft.com/office/drawing/2014/main" val="188718752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3DB72-8941-488D-B2DF-1880B894B3CF}"/>
              </a:ext>
            </a:extLst>
          </p:cNvPr>
          <p:cNvSpPr>
            <a:spLocks noGrp="1"/>
          </p:cNvSpPr>
          <p:nvPr>
            <p:ph type="ctrTitle"/>
          </p:nvPr>
        </p:nvSpPr>
        <p:spPr>
          <a:xfrm>
            <a:off x="457200" y="1485900"/>
            <a:ext cx="16611600" cy="3429000"/>
          </a:xfrm>
        </p:spPr>
        <p:txBody>
          <a:bodyPr>
            <a:noAutofit/>
          </a:bodyPr>
          <a:lstStyle/>
          <a:p>
            <a:r>
              <a:rPr lang="en-US" sz="3300" b="0" i="0" dirty="0">
                <a:solidFill>
                  <a:srgbClr val="282726"/>
                </a:solidFill>
                <a:effectLst/>
                <a:latin typeface="-apple-system"/>
              </a:rPr>
              <a:t>Di </a:t>
            </a:r>
            <a:r>
              <a:rPr lang="en-US" sz="3300" b="0" i="0" dirty="0" err="1">
                <a:solidFill>
                  <a:srgbClr val="282726"/>
                </a:solidFill>
                <a:effectLst/>
                <a:latin typeface="-apple-system"/>
              </a:rPr>
              <a:t>bawah</a:t>
            </a:r>
            <a:r>
              <a:rPr lang="en-US" sz="3300" b="0" i="0" dirty="0">
                <a:solidFill>
                  <a:srgbClr val="282726"/>
                </a:solidFill>
                <a:effectLst/>
                <a:latin typeface="-apple-system"/>
              </a:rPr>
              <a:t> </a:t>
            </a:r>
            <a:r>
              <a:rPr lang="en-US" sz="3300" b="0" i="0" dirty="0" err="1">
                <a:solidFill>
                  <a:srgbClr val="282726"/>
                </a:solidFill>
                <a:effectLst/>
                <a:latin typeface="-apple-system"/>
              </a:rPr>
              <a:t>ini</a:t>
            </a:r>
            <a:r>
              <a:rPr lang="en-US" sz="3300" b="0" i="0" dirty="0">
                <a:solidFill>
                  <a:srgbClr val="282726"/>
                </a:solidFill>
                <a:effectLst/>
                <a:latin typeface="-apple-system"/>
              </a:rPr>
              <a:t> </a:t>
            </a:r>
            <a:r>
              <a:rPr lang="en-US" sz="3300" b="0" i="0" dirty="0" err="1">
                <a:solidFill>
                  <a:srgbClr val="282726"/>
                </a:solidFill>
                <a:effectLst/>
                <a:latin typeface="-apple-system"/>
              </a:rPr>
              <a:t>adalah</a:t>
            </a:r>
            <a:r>
              <a:rPr lang="en-US" sz="3300" b="0" i="0" dirty="0">
                <a:solidFill>
                  <a:srgbClr val="282726"/>
                </a:solidFill>
                <a:effectLst/>
                <a:latin typeface="-apple-system"/>
              </a:rPr>
              <a:t> </a:t>
            </a:r>
            <a:r>
              <a:rPr lang="en-US" sz="3300" b="0" i="0" dirty="0" err="1">
                <a:solidFill>
                  <a:srgbClr val="282726"/>
                </a:solidFill>
                <a:effectLst/>
                <a:latin typeface="-apple-system"/>
              </a:rPr>
              <a:t>beberapa</a:t>
            </a:r>
            <a:r>
              <a:rPr lang="en-US" sz="3300" b="0" i="0" dirty="0">
                <a:solidFill>
                  <a:srgbClr val="282726"/>
                </a:solidFill>
                <a:effectLst/>
                <a:latin typeface="-apple-system"/>
              </a:rPr>
              <a:t> </a:t>
            </a:r>
            <a:r>
              <a:rPr lang="en-US" sz="3300" b="0" i="0" dirty="0" err="1">
                <a:solidFill>
                  <a:srgbClr val="282726"/>
                </a:solidFill>
                <a:effectLst/>
                <a:latin typeface="-apple-system"/>
              </a:rPr>
              <a:t>perbedaan</a:t>
            </a:r>
            <a:r>
              <a:rPr lang="en-US" sz="3300" b="0" i="0" dirty="0">
                <a:solidFill>
                  <a:srgbClr val="282726"/>
                </a:solidFill>
                <a:effectLst/>
                <a:latin typeface="-apple-system"/>
              </a:rPr>
              <a:t> </a:t>
            </a:r>
            <a:r>
              <a:rPr lang="en-US" sz="3300" b="0" i="0" dirty="0" err="1">
                <a:solidFill>
                  <a:srgbClr val="282726"/>
                </a:solidFill>
                <a:effectLst/>
                <a:latin typeface="-apple-system"/>
              </a:rPr>
              <a:t>antara</a:t>
            </a:r>
            <a:r>
              <a:rPr lang="en-US" sz="3300" b="0" i="0" dirty="0">
                <a:solidFill>
                  <a:srgbClr val="282726"/>
                </a:solidFill>
                <a:effectLst/>
                <a:latin typeface="-apple-system"/>
              </a:rPr>
              <a:t> interface </a:t>
            </a:r>
            <a:r>
              <a:rPr lang="en-US" sz="3300" b="0" i="0" dirty="0" err="1">
                <a:solidFill>
                  <a:srgbClr val="282726"/>
                </a:solidFill>
                <a:effectLst/>
                <a:latin typeface="-apple-system"/>
              </a:rPr>
              <a:t>dengan</a:t>
            </a:r>
            <a:r>
              <a:rPr lang="en-US" sz="3300" b="0" i="0" dirty="0">
                <a:solidFill>
                  <a:srgbClr val="282726"/>
                </a:solidFill>
                <a:effectLst/>
                <a:latin typeface="-apple-system"/>
              </a:rPr>
              <a:t> class:</a:t>
            </a:r>
            <a:br>
              <a:rPr lang="en-US" sz="3300" b="0" i="0" dirty="0">
                <a:solidFill>
                  <a:srgbClr val="282726"/>
                </a:solidFill>
                <a:effectLst/>
                <a:latin typeface="-apple-system"/>
              </a:rPr>
            </a:br>
            <a:r>
              <a:rPr lang="en-US" sz="3300" b="0" i="0" dirty="0">
                <a:solidFill>
                  <a:srgbClr val="282726"/>
                </a:solidFill>
                <a:effectLst/>
                <a:latin typeface="-apple-system"/>
              </a:rPr>
              <a:t>- Interface </a:t>
            </a:r>
            <a:r>
              <a:rPr lang="en-US" sz="3300" b="0" i="0" dirty="0" err="1">
                <a:solidFill>
                  <a:srgbClr val="282726"/>
                </a:solidFill>
                <a:effectLst/>
                <a:latin typeface="-apple-system"/>
              </a:rPr>
              <a:t>tidak</a:t>
            </a:r>
            <a:r>
              <a:rPr lang="en-US" sz="3300" b="0" i="0" dirty="0">
                <a:solidFill>
                  <a:srgbClr val="282726"/>
                </a:solidFill>
                <a:effectLst/>
                <a:latin typeface="-apple-system"/>
              </a:rPr>
              <a:t> </a:t>
            </a:r>
            <a:r>
              <a:rPr lang="en-US" sz="3300" b="0" i="0" dirty="0" err="1">
                <a:solidFill>
                  <a:srgbClr val="282726"/>
                </a:solidFill>
                <a:effectLst/>
                <a:latin typeface="-apple-system"/>
              </a:rPr>
              <a:t>didapat</a:t>
            </a:r>
            <a:r>
              <a:rPr lang="en-US" sz="3300" b="0" i="0" dirty="0">
                <a:solidFill>
                  <a:srgbClr val="282726"/>
                </a:solidFill>
                <a:effectLst/>
                <a:latin typeface="-apple-system"/>
              </a:rPr>
              <a:t> di instance-</a:t>
            </a:r>
            <a:r>
              <a:rPr lang="en-US" sz="3300" b="0" i="0" dirty="0" err="1">
                <a:solidFill>
                  <a:srgbClr val="282726"/>
                </a:solidFill>
                <a:effectLst/>
                <a:latin typeface="-apple-system"/>
              </a:rPr>
              <a:t>kan</a:t>
            </a:r>
            <a:br>
              <a:rPr lang="en-US" sz="3300" b="0" i="0" dirty="0">
                <a:solidFill>
                  <a:srgbClr val="282726"/>
                </a:solidFill>
                <a:effectLst/>
                <a:latin typeface="-apple-system"/>
              </a:rPr>
            </a:br>
            <a:r>
              <a:rPr lang="en-US" sz="3300" b="0" i="0" dirty="0">
                <a:solidFill>
                  <a:srgbClr val="282726"/>
                </a:solidFill>
                <a:effectLst/>
                <a:latin typeface="-apple-system"/>
              </a:rPr>
              <a:t>- </a:t>
            </a:r>
            <a:r>
              <a:rPr lang="en-US" sz="3300" b="0" i="0" dirty="0" err="1">
                <a:solidFill>
                  <a:srgbClr val="282726"/>
                </a:solidFill>
                <a:effectLst/>
                <a:latin typeface="-apple-system"/>
              </a:rPr>
              <a:t>Tidak</a:t>
            </a:r>
            <a:r>
              <a:rPr lang="en-US" sz="3300" b="0" i="0" dirty="0">
                <a:solidFill>
                  <a:srgbClr val="282726"/>
                </a:solidFill>
                <a:effectLst/>
                <a:latin typeface="-apple-system"/>
              </a:rPr>
              <a:t> </a:t>
            </a:r>
            <a:r>
              <a:rPr lang="en-US" sz="3300" b="0" i="0" dirty="0" err="1">
                <a:solidFill>
                  <a:srgbClr val="282726"/>
                </a:solidFill>
                <a:effectLst/>
                <a:latin typeface="-apple-system"/>
              </a:rPr>
              <a:t>memiliki</a:t>
            </a:r>
            <a:r>
              <a:rPr lang="en-US" sz="3300" b="0" i="0" dirty="0">
                <a:solidFill>
                  <a:srgbClr val="282726"/>
                </a:solidFill>
                <a:effectLst/>
                <a:latin typeface="-apple-system"/>
              </a:rPr>
              <a:t> </a:t>
            </a:r>
            <a:r>
              <a:rPr lang="en-US" sz="3300" b="0" i="0" dirty="0" err="1">
                <a:solidFill>
                  <a:srgbClr val="282726"/>
                </a:solidFill>
                <a:effectLst/>
                <a:latin typeface="-apple-system"/>
              </a:rPr>
              <a:t>konstruktor</a:t>
            </a:r>
            <a:r>
              <a:rPr lang="en-US" sz="3300" b="0" i="0" dirty="0">
                <a:solidFill>
                  <a:srgbClr val="282726"/>
                </a:solidFill>
                <a:effectLst/>
                <a:latin typeface="-apple-system"/>
              </a:rPr>
              <a:t> </a:t>
            </a:r>
            <a:r>
              <a:rPr lang="en-US" sz="3300" b="0" i="0" dirty="0" err="1">
                <a:solidFill>
                  <a:srgbClr val="282726"/>
                </a:solidFill>
                <a:effectLst/>
                <a:latin typeface="-apple-system"/>
              </a:rPr>
              <a:t>apapun</a:t>
            </a:r>
            <a:br>
              <a:rPr lang="en-US" sz="3300" b="0" i="0" dirty="0">
                <a:solidFill>
                  <a:srgbClr val="282726"/>
                </a:solidFill>
                <a:effectLst/>
                <a:latin typeface="-apple-system"/>
              </a:rPr>
            </a:br>
            <a:r>
              <a:rPr lang="en-US" sz="3300" b="0" i="0" dirty="0">
                <a:solidFill>
                  <a:srgbClr val="282726"/>
                </a:solidFill>
                <a:effectLst/>
                <a:latin typeface="-apple-system"/>
              </a:rPr>
              <a:t>- </a:t>
            </a:r>
            <a:r>
              <a:rPr lang="en-US" sz="3300" b="0" i="0" dirty="0" err="1">
                <a:solidFill>
                  <a:srgbClr val="282726"/>
                </a:solidFill>
                <a:effectLst/>
                <a:latin typeface="-apple-system"/>
              </a:rPr>
              <a:t>Semua</a:t>
            </a:r>
            <a:r>
              <a:rPr lang="en-US" sz="3300" b="0" i="0" dirty="0">
                <a:solidFill>
                  <a:srgbClr val="282726"/>
                </a:solidFill>
                <a:effectLst/>
                <a:latin typeface="-apple-system"/>
              </a:rPr>
              <a:t> method yang </a:t>
            </a:r>
            <a:r>
              <a:rPr lang="en-US" sz="3300" b="0" i="0" dirty="0" err="1">
                <a:solidFill>
                  <a:srgbClr val="282726"/>
                </a:solidFill>
                <a:effectLst/>
                <a:latin typeface="-apple-system"/>
              </a:rPr>
              <a:t>dimiliki</a:t>
            </a:r>
            <a:r>
              <a:rPr lang="en-US" sz="3300" b="0" i="0" dirty="0">
                <a:solidFill>
                  <a:srgbClr val="282726"/>
                </a:solidFill>
                <a:effectLst/>
                <a:latin typeface="-apple-system"/>
              </a:rPr>
              <a:t> oleh interface </a:t>
            </a:r>
            <a:r>
              <a:rPr lang="en-US" sz="3300" b="0" i="0" dirty="0" err="1">
                <a:solidFill>
                  <a:srgbClr val="282726"/>
                </a:solidFill>
                <a:effectLst/>
                <a:latin typeface="-apple-system"/>
              </a:rPr>
              <a:t>adalah</a:t>
            </a:r>
            <a:r>
              <a:rPr lang="en-US" sz="3300" b="0" i="0" dirty="0">
                <a:solidFill>
                  <a:srgbClr val="282726"/>
                </a:solidFill>
                <a:effectLst/>
                <a:latin typeface="-apple-system"/>
              </a:rPr>
              <a:t> method abstract</a:t>
            </a:r>
            <a:br>
              <a:rPr lang="en-US" sz="3300" b="0" i="0" dirty="0">
                <a:solidFill>
                  <a:srgbClr val="282726"/>
                </a:solidFill>
                <a:effectLst/>
                <a:latin typeface="-apple-system"/>
              </a:rPr>
            </a:br>
            <a:r>
              <a:rPr lang="en-US" sz="3300" b="0" i="0" dirty="0">
                <a:solidFill>
                  <a:srgbClr val="282726"/>
                </a:solidFill>
                <a:effectLst/>
                <a:latin typeface="-apple-system"/>
              </a:rPr>
              <a:t>- Interface </a:t>
            </a:r>
            <a:r>
              <a:rPr lang="en-US" sz="3300" b="0" i="0" dirty="0" err="1">
                <a:solidFill>
                  <a:srgbClr val="282726"/>
                </a:solidFill>
                <a:effectLst/>
                <a:latin typeface="-apple-system"/>
              </a:rPr>
              <a:t>tidak</a:t>
            </a:r>
            <a:r>
              <a:rPr lang="en-US" sz="3300" b="0" i="0" dirty="0">
                <a:solidFill>
                  <a:srgbClr val="282726"/>
                </a:solidFill>
                <a:effectLst/>
                <a:latin typeface="-apple-system"/>
              </a:rPr>
              <a:t> </a:t>
            </a:r>
            <a:r>
              <a:rPr lang="en-US" sz="3300" b="0" i="0" dirty="0" err="1">
                <a:solidFill>
                  <a:srgbClr val="282726"/>
                </a:solidFill>
                <a:effectLst/>
                <a:latin typeface="-apple-system"/>
              </a:rPr>
              <a:t>bisa</a:t>
            </a:r>
            <a:r>
              <a:rPr lang="en-US" sz="3300" b="0" i="0" dirty="0">
                <a:solidFill>
                  <a:srgbClr val="282726"/>
                </a:solidFill>
                <a:effectLst/>
                <a:latin typeface="-apple-system"/>
              </a:rPr>
              <a:t> </a:t>
            </a:r>
            <a:r>
              <a:rPr lang="en-US" sz="3300" b="0" i="0" dirty="0" err="1">
                <a:solidFill>
                  <a:srgbClr val="282726"/>
                </a:solidFill>
                <a:effectLst/>
                <a:latin typeface="-apple-system"/>
              </a:rPr>
              <a:t>mengandung</a:t>
            </a:r>
            <a:r>
              <a:rPr lang="en-US" sz="3300" b="0" i="0" dirty="0">
                <a:solidFill>
                  <a:srgbClr val="282726"/>
                </a:solidFill>
                <a:effectLst/>
                <a:latin typeface="-apple-system"/>
              </a:rPr>
              <a:t> fields instance. Fields yang  </a:t>
            </a:r>
            <a:r>
              <a:rPr lang="en-US" sz="3300" b="0" i="0" dirty="0" err="1">
                <a:solidFill>
                  <a:srgbClr val="282726"/>
                </a:solidFill>
                <a:effectLst/>
                <a:latin typeface="-apple-system"/>
              </a:rPr>
              <a:t>terdapat</a:t>
            </a:r>
            <a:r>
              <a:rPr lang="en-US" sz="3300" b="0" i="0" dirty="0">
                <a:solidFill>
                  <a:srgbClr val="282726"/>
                </a:solidFill>
                <a:effectLst/>
                <a:latin typeface="-apple-system"/>
              </a:rPr>
              <a:t> pada</a:t>
            </a:r>
            <a:br>
              <a:rPr lang="en-US" sz="3300" b="0" i="0" dirty="0">
                <a:solidFill>
                  <a:srgbClr val="282726"/>
                </a:solidFill>
                <a:effectLst/>
                <a:latin typeface="-apple-system"/>
              </a:rPr>
            </a:br>
            <a:r>
              <a:rPr lang="en-US" sz="3300" b="0" i="0" dirty="0">
                <a:solidFill>
                  <a:srgbClr val="282726"/>
                </a:solidFill>
                <a:effectLst/>
                <a:latin typeface="-apple-system"/>
              </a:rPr>
              <a:t>- interface </a:t>
            </a:r>
            <a:r>
              <a:rPr lang="en-US" sz="3300" b="0" i="0" dirty="0" err="1">
                <a:solidFill>
                  <a:srgbClr val="282726"/>
                </a:solidFill>
                <a:effectLst/>
                <a:latin typeface="-apple-system"/>
              </a:rPr>
              <a:t>haruslah</a:t>
            </a:r>
            <a:r>
              <a:rPr lang="en-US" sz="3300" b="0" i="0" dirty="0">
                <a:solidFill>
                  <a:srgbClr val="282726"/>
                </a:solidFill>
                <a:effectLst/>
                <a:latin typeface="-apple-system"/>
              </a:rPr>
              <a:t> </a:t>
            </a:r>
            <a:r>
              <a:rPr lang="en-US" sz="3300" b="0" i="0" dirty="0" err="1">
                <a:solidFill>
                  <a:srgbClr val="282726"/>
                </a:solidFill>
                <a:effectLst/>
                <a:latin typeface="-apple-system"/>
              </a:rPr>
              <a:t>dideklarasikan</a:t>
            </a:r>
            <a:r>
              <a:rPr lang="en-US" sz="3300" b="0" i="0" dirty="0">
                <a:solidFill>
                  <a:srgbClr val="282726"/>
                </a:solidFill>
                <a:effectLst/>
                <a:latin typeface="-apple-system"/>
              </a:rPr>
              <a:t> </a:t>
            </a:r>
            <a:r>
              <a:rPr lang="en-US" sz="3300" b="0" i="0" dirty="0" err="1">
                <a:solidFill>
                  <a:srgbClr val="282726"/>
                </a:solidFill>
                <a:effectLst/>
                <a:latin typeface="-apple-system"/>
              </a:rPr>
              <a:t>sebagai</a:t>
            </a:r>
            <a:r>
              <a:rPr lang="en-US" sz="3300" b="0" i="0" dirty="0">
                <a:solidFill>
                  <a:srgbClr val="282726"/>
                </a:solidFill>
                <a:effectLst/>
                <a:latin typeface="-apple-system"/>
              </a:rPr>
              <a:t> static dan final. </a:t>
            </a:r>
            <a:br>
              <a:rPr lang="en-US" sz="3300" b="0" i="0" dirty="0">
                <a:solidFill>
                  <a:srgbClr val="282726"/>
                </a:solidFill>
                <a:effectLst/>
                <a:latin typeface="-apple-system"/>
              </a:rPr>
            </a:br>
            <a:r>
              <a:rPr lang="en-US" sz="3300" b="0" i="0" dirty="0">
                <a:solidFill>
                  <a:srgbClr val="282726"/>
                </a:solidFill>
                <a:effectLst/>
                <a:latin typeface="-apple-system"/>
              </a:rPr>
              <a:t>- Interface </a:t>
            </a:r>
            <a:r>
              <a:rPr lang="en-US" sz="3300" b="0" i="0" dirty="0" err="1">
                <a:solidFill>
                  <a:srgbClr val="282726"/>
                </a:solidFill>
                <a:effectLst/>
                <a:latin typeface="-apple-system"/>
              </a:rPr>
              <a:t>bisa</a:t>
            </a:r>
            <a:r>
              <a:rPr lang="en-US" sz="3300" b="0" i="0" dirty="0">
                <a:solidFill>
                  <a:srgbClr val="282726"/>
                </a:solidFill>
                <a:effectLst/>
                <a:latin typeface="-apple-system"/>
              </a:rPr>
              <a:t> extend </a:t>
            </a:r>
            <a:r>
              <a:rPr lang="en-US" sz="3300" b="0" i="0" dirty="0" err="1">
                <a:solidFill>
                  <a:srgbClr val="282726"/>
                </a:solidFill>
                <a:effectLst/>
                <a:latin typeface="-apple-system"/>
              </a:rPr>
              <a:t>ke</a:t>
            </a:r>
            <a:r>
              <a:rPr lang="en-US" sz="3300" b="0" i="0" dirty="0">
                <a:solidFill>
                  <a:srgbClr val="282726"/>
                </a:solidFill>
                <a:effectLst/>
                <a:latin typeface="-apple-system"/>
              </a:rPr>
              <a:t> </a:t>
            </a:r>
            <a:r>
              <a:rPr lang="en-US" sz="3300" b="0" i="0" dirty="0" err="1">
                <a:solidFill>
                  <a:srgbClr val="282726"/>
                </a:solidFill>
                <a:effectLst/>
                <a:latin typeface="-apple-system"/>
              </a:rPr>
              <a:t>beberapa</a:t>
            </a:r>
            <a:r>
              <a:rPr lang="en-US" sz="3300" b="0" i="0" dirty="0">
                <a:solidFill>
                  <a:srgbClr val="282726"/>
                </a:solidFill>
                <a:effectLst/>
                <a:latin typeface="-apple-system"/>
              </a:rPr>
              <a:t> interface (multiple)</a:t>
            </a:r>
          </a:p>
        </p:txBody>
      </p:sp>
      <p:sp>
        <p:nvSpPr>
          <p:cNvPr id="3" name="Subtitle 2">
            <a:extLst>
              <a:ext uri="{FF2B5EF4-FFF2-40B4-BE49-F238E27FC236}">
                <a16:creationId xmlns:a16="http://schemas.microsoft.com/office/drawing/2014/main" id="{F3BF145F-7E85-4436-A4DF-35718EC0D509}"/>
              </a:ext>
            </a:extLst>
          </p:cNvPr>
          <p:cNvSpPr>
            <a:spLocks noGrp="1"/>
          </p:cNvSpPr>
          <p:nvPr>
            <p:ph type="subTitle" idx="1"/>
          </p:nvPr>
        </p:nvSpPr>
        <p:spPr>
          <a:xfrm>
            <a:off x="914400" y="419100"/>
            <a:ext cx="12955608" cy="609600"/>
          </a:xfrm>
        </p:spPr>
        <p:txBody>
          <a:bodyPr>
            <a:noAutofit/>
          </a:bodyPr>
          <a:lstStyle/>
          <a:p>
            <a:r>
              <a:rPr lang="en-US" sz="4400" dirty="0"/>
              <a:t>Interface</a:t>
            </a:r>
          </a:p>
        </p:txBody>
      </p:sp>
    </p:spTree>
    <p:extLst>
      <p:ext uri="{BB962C8B-B14F-4D97-AF65-F5344CB8AC3E}">
        <p14:creationId xmlns:p14="http://schemas.microsoft.com/office/powerpoint/2010/main" val="1073099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0D182-F8B4-45CF-908D-A93E9D6AD04B}"/>
              </a:ext>
            </a:extLst>
          </p:cNvPr>
          <p:cNvSpPr>
            <a:spLocks noGrp="1"/>
          </p:cNvSpPr>
          <p:nvPr>
            <p:ph type="ctrTitle"/>
          </p:nvPr>
        </p:nvSpPr>
        <p:spPr>
          <a:xfrm>
            <a:off x="533400" y="266700"/>
            <a:ext cx="12955610" cy="862695"/>
          </a:xfrm>
        </p:spPr>
        <p:txBody>
          <a:bodyPr>
            <a:normAutofit/>
          </a:bodyPr>
          <a:lstStyle/>
          <a:p>
            <a:r>
              <a:rPr lang="en-US" sz="5500" dirty="0"/>
              <a:t>Encapsulation</a:t>
            </a:r>
          </a:p>
        </p:txBody>
      </p:sp>
      <p:sp>
        <p:nvSpPr>
          <p:cNvPr id="3" name="Subtitle 2">
            <a:extLst>
              <a:ext uri="{FF2B5EF4-FFF2-40B4-BE49-F238E27FC236}">
                <a16:creationId xmlns:a16="http://schemas.microsoft.com/office/drawing/2014/main" id="{A3464CF8-D34F-4296-AFE2-9E515915422B}"/>
              </a:ext>
            </a:extLst>
          </p:cNvPr>
          <p:cNvSpPr>
            <a:spLocks noGrp="1"/>
          </p:cNvSpPr>
          <p:nvPr>
            <p:ph type="subTitle" idx="1"/>
          </p:nvPr>
        </p:nvSpPr>
        <p:spPr>
          <a:xfrm>
            <a:off x="152400" y="1129395"/>
            <a:ext cx="7467600" cy="4166505"/>
          </a:xfrm>
        </p:spPr>
        <p:txBody>
          <a:bodyPr>
            <a:normAutofit/>
          </a:bodyPr>
          <a:lstStyle/>
          <a:p>
            <a:pPr algn="just"/>
            <a:r>
              <a:rPr lang="en-US" dirty="0" err="1">
                <a:solidFill>
                  <a:schemeClr val="tx1"/>
                </a:solidFill>
              </a:rPr>
              <a:t>Kegunaan</a:t>
            </a:r>
            <a:r>
              <a:rPr lang="en-US" dirty="0">
                <a:solidFill>
                  <a:schemeClr val="tx1"/>
                </a:solidFill>
              </a:rPr>
              <a:t> </a:t>
            </a:r>
            <a:r>
              <a:rPr lang="en-US" dirty="0" err="1">
                <a:solidFill>
                  <a:schemeClr val="tx1"/>
                </a:solidFill>
              </a:rPr>
              <a:t>dari</a:t>
            </a:r>
            <a:r>
              <a:rPr lang="en-US" dirty="0">
                <a:solidFill>
                  <a:schemeClr val="tx1"/>
                </a:solidFill>
              </a:rPr>
              <a:t> encapsulation </a:t>
            </a:r>
            <a:r>
              <a:rPr lang="en-US" dirty="0" err="1">
                <a:solidFill>
                  <a:schemeClr val="tx1"/>
                </a:solidFill>
              </a:rPr>
              <a:t>adalah</a:t>
            </a:r>
            <a:r>
              <a:rPr lang="en-US" dirty="0">
                <a:solidFill>
                  <a:schemeClr val="tx1"/>
                </a:solidFill>
              </a:rPr>
              <a:t> </a:t>
            </a:r>
            <a:r>
              <a:rPr lang="en-US" dirty="0" err="1">
                <a:solidFill>
                  <a:schemeClr val="tx1"/>
                </a:solidFill>
              </a:rPr>
              <a:t>menyembunyikan</a:t>
            </a:r>
            <a:r>
              <a:rPr lang="en-US" dirty="0">
                <a:solidFill>
                  <a:schemeClr val="tx1"/>
                </a:solidFill>
              </a:rPr>
              <a:t> </a:t>
            </a:r>
            <a:r>
              <a:rPr lang="en-US" dirty="0" err="1">
                <a:solidFill>
                  <a:schemeClr val="tx1"/>
                </a:solidFill>
              </a:rPr>
              <a:t>informasi</a:t>
            </a:r>
            <a:r>
              <a:rPr lang="en-US" dirty="0">
                <a:solidFill>
                  <a:schemeClr val="tx1"/>
                </a:solidFill>
              </a:rPr>
              <a:t> sensitive.</a:t>
            </a:r>
          </a:p>
          <a:p>
            <a:pPr algn="just"/>
            <a:r>
              <a:rPr lang="en-US" dirty="0">
                <a:solidFill>
                  <a:schemeClr val="tx1"/>
                </a:solidFill>
              </a:rPr>
              <a:t>Encapsulation </a:t>
            </a:r>
            <a:r>
              <a:rPr lang="en-US" dirty="0" err="1">
                <a:solidFill>
                  <a:schemeClr val="tx1"/>
                </a:solidFill>
              </a:rPr>
              <a:t>ditandai</a:t>
            </a:r>
            <a:r>
              <a:rPr lang="en-US" dirty="0">
                <a:solidFill>
                  <a:schemeClr val="tx1"/>
                </a:solidFill>
              </a:rPr>
              <a:t> </a:t>
            </a:r>
            <a:r>
              <a:rPr lang="en-US" dirty="0" err="1">
                <a:solidFill>
                  <a:schemeClr val="tx1"/>
                </a:solidFill>
              </a:rPr>
              <a:t>dengan</a:t>
            </a:r>
            <a:r>
              <a:rPr lang="en-US" dirty="0">
                <a:solidFill>
                  <a:schemeClr val="tx1"/>
                </a:solidFill>
              </a:rPr>
              <a:t>  access modifier Private pada attribute dan </a:t>
            </a:r>
            <a:r>
              <a:rPr lang="en-US" dirty="0" err="1">
                <a:solidFill>
                  <a:schemeClr val="tx1"/>
                </a:solidFill>
              </a:rPr>
              <a:t>menggunakan</a:t>
            </a:r>
            <a:r>
              <a:rPr lang="en-US" dirty="0">
                <a:solidFill>
                  <a:schemeClr val="tx1"/>
                </a:solidFill>
              </a:rPr>
              <a:t> set dan get  </a:t>
            </a:r>
            <a:r>
              <a:rPr lang="en-US" dirty="0" err="1">
                <a:solidFill>
                  <a:schemeClr val="tx1"/>
                </a:solidFill>
              </a:rPr>
              <a:t>methode</a:t>
            </a:r>
            <a:r>
              <a:rPr lang="en-US" dirty="0">
                <a:solidFill>
                  <a:schemeClr val="tx1"/>
                </a:solidFill>
              </a:rPr>
              <a:t> </a:t>
            </a:r>
            <a:r>
              <a:rPr lang="en-US" dirty="0" err="1">
                <a:solidFill>
                  <a:schemeClr val="tx1"/>
                </a:solidFill>
              </a:rPr>
              <a:t>untuk</a:t>
            </a:r>
            <a:r>
              <a:rPr lang="en-US" dirty="0">
                <a:solidFill>
                  <a:schemeClr val="tx1"/>
                </a:solidFill>
              </a:rPr>
              <a:t> </a:t>
            </a:r>
            <a:r>
              <a:rPr lang="en-US" dirty="0" err="1">
                <a:solidFill>
                  <a:schemeClr val="tx1"/>
                </a:solidFill>
              </a:rPr>
              <a:t>mengakses</a:t>
            </a:r>
            <a:r>
              <a:rPr lang="en-US" dirty="0">
                <a:solidFill>
                  <a:schemeClr val="tx1"/>
                </a:solidFill>
              </a:rPr>
              <a:t> </a:t>
            </a:r>
            <a:r>
              <a:rPr lang="en-US" dirty="0" err="1">
                <a:solidFill>
                  <a:schemeClr val="tx1"/>
                </a:solidFill>
              </a:rPr>
              <a:t>informasi</a:t>
            </a:r>
            <a:r>
              <a:rPr lang="en-US" dirty="0">
                <a:solidFill>
                  <a:schemeClr val="tx1"/>
                </a:solidFill>
              </a:rPr>
              <a:t> </a:t>
            </a:r>
            <a:r>
              <a:rPr lang="en-US" dirty="0" err="1">
                <a:solidFill>
                  <a:schemeClr val="tx1"/>
                </a:solidFill>
              </a:rPr>
              <a:t>dari</a:t>
            </a:r>
            <a:r>
              <a:rPr lang="en-US" dirty="0">
                <a:solidFill>
                  <a:schemeClr val="tx1"/>
                </a:solidFill>
              </a:rPr>
              <a:t> </a:t>
            </a:r>
            <a:r>
              <a:rPr lang="en-US" dirty="0" err="1">
                <a:solidFill>
                  <a:schemeClr val="tx1"/>
                </a:solidFill>
              </a:rPr>
              <a:t>luar</a:t>
            </a:r>
            <a:r>
              <a:rPr lang="en-US" dirty="0">
                <a:solidFill>
                  <a:schemeClr val="tx1"/>
                </a:solidFill>
              </a:rPr>
              <a:t> class</a:t>
            </a:r>
          </a:p>
        </p:txBody>
      </p:sp>
      <p:sp>
        <p:nvSpPr>
          <p:cNvPr id="4" name="Subtitle 2">
            <a:extLst>
              <a:ext uri="{FF2B5EF4-FFF2-40B4-BE49-F238E27FC236}">
                <a16:creationId xmlns:a16="http://schemas.microsoft.com/office/drawing/2014/main" id="{CB3030F1-43AB-48E6-99C2-11E6A9561611}"/>
              </a:ext>
            </a:extLst>
          </p:cNvPr>
          <p:cNvSpPr txBox="1">
            <a:spLocks/>
          </p:cNvSpPr>
          <p:nvPr/>
        </p:nvSpPr>
        <p:spPr>
          <a:xfrm>
            <a:off x="8839200" y="266700"/>
            <a:ext cx="7467600" cy="2743200"/>
          </a:xfrm>
          <a:prstGeom prst="rect">
            <a:avLst/>
          </a:prstGeom>
        </p:spPr>
        <p:txBody>
          <a:bodyPr vert="horz" lIns="91440" tIns="91440" rIns="91440" bIns="91440" rtlCol="0">
            <a:noAutofit/>
          </a:bodyPr>
          <a:lstStyle>
            <a:lvl1pPr marL="0" indent="0" algn="l" defTabSz="1371600" rtl="0" eaLnBrk="1" latinLnBrk="0" hangingPunct="1">
              <a:lnSpc>
                <a:spcPct val="120000"/>
              </a:lnSpc>
              <a:spcBef>
                <a:spcPts val="1500"/>
              </a:spcBef>
              <a:buClr>
                <a:schemeClr val="accent1"/>
              </a:buClr>
              <a:buSzPct val="100000"/>
              <a:buFont typeface="Arial" panose="020B0604020202020204" pitchFamily="34" charset="0"/>
              <a:buNone/>
              <a:defRPr sz="2700" b="0" kern="1200" cap="all" baseline="0">
                <a:solidFill>
                  <a:schemeClr val="tx1"/>
                </a:solidFill>
                <a:effectLst/>
                <a:latin typeface="+mn-lt"/>
                <a:ea typeface="+mn-ea"/>
                <a:cs typeface="+mn-cs"/>
              </a:defRPr>
            </a:lvl1pPr>
            <a:lvl2pPr marL="685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cap="none" baseline="0">
                <a:solidFill>
                  <a:schemeClr val="tx1"/>
                </a:solidFill>
                <a:effectLst/>
                <a:latin typeface="+mn-lt"/>
                <a:ea typeface="+mn-ea"/>
                <a:cs typeface="+mn-cs"/>
              </a:defRPr>
            </a:lvl2pPr>
            <a:lvl3pPr marL="1371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a:solidFill>
                  <a:schemeClr val="tx1"/>
                </a:solidFill>
                <a:effectLst/>
                <a:latin typeface="+mn-lt"/>
                <a:ea typeface="+mn-ea"/>
                <a:cs typeface="+mn-cs"/>
              </a:defRPr>
            </a:lvl3pPr>
            <a:lvl4pPr marL="2057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cap="none" baseline="0">
                <a:solidFill>
                  <a:schemeClr val="tx1"/>
                </a:solidFill>
                <a:effectLst/>
                <a:latin typeface="+mn-lt"/>
                <a:ea typeface="+mn-ea"/>
                <a:cs typeface="+mn-cs"/>
              </a:defRPr>
            </a:lvl4pPr>
            <a:lvl5pPr marL="27432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5pPr>
            <a:lvl6pPr marL="34290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6pPr>
            <a:lvl7pPr marL="4114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7pPr>
            <a:lvl8pPr marL="4800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8pPr>
            <a:lvl9pPr marL="5486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9pPr>
          </a:lstStyle>
          <a:p>
            <a:pPr algn="just">
              <a:lnSpc>
                <a:spcPct val="100000"/>
              </a:lnSpc>
            </a:pPr>
            <a:r>
              <a:rPr lang="en-US" sz="1800" dirty="0"/>
              <a:t>public class </a:t>
            </a:r>
            <a:r>
              <a:rPr lang="en-US" sz="1800" dirty="0" err="1"/>
              <a:t>Beruang</a:t>
            </a:r>
            <a:r>
              <a:rPr lang="en-US" sz="1800" dirty="0"/>
              <a:t> {</a:t>
            </a:r>
          </a:p>
          <a:p>
            <a:pPr algn="just">
              <a:lnSpc>
                <a:spcPct val="100000"/>
              </a:lnSpc>
            </a:pPr>
            <a:r>
              <a:rPr lang="en-US" sz="1800" dirty="0"/>
              <a:t>    private String </a:t>
            </a:r>
            <a:r>
              <a:rPr lang="en-US" sz="1800" dirty="0" err="1"/>
              <a:t>jenis</a:t>
            </a:r>
            <a:r>
              <a:rPr lang="en-US" sz="1800" dirty="0"/>
              <a:t>;</a:t>
            </a:r>
          </a:p>
          <a:p>
            <a:pPr algn="just">
              <a:lnSpc>
                <a:spcPct val="100000"/>
              </a:lnSpc>
            </a:pPr>
            <a:r>
              <a:rPr lang="en-US" sz="1800" dirty="0"/>
              <a:t>    private int </a:t>
            </a:r>
            <a:r>
              <a:rPr lang="en-US" sz="1800" dirty="0" err="1"/>
              <a:t>usia</a:t>
            </a:r>
            <a:r>
              <a:rPr lang="en-US" sz="1800" dirty="0"/>
              <a:t>;</a:t>
            </a:r>
          </a:p>
          <a:p>
            <a:pPr algn="just">
              <a:lnSpc>
                <a:spcPct val="100000"/>
              </a:lnSpc>
            </a:pPr>
            <a:r>
              <a:rPr lang="en-US" sz="1800" dirty="0"/>
              <a:t>public String </a:t>
            </a:r>
            <a:r>
              <a:rPr lang="en-US" sz="1800" dirty="0" err="1"/>
              <a:t>getJenis</a:t>
            </a:r>
            <a:r>
              <a:rPr lang="en-US" sz="1800" dirty="0"/>
              <a:t>() {</a:t>
            </a:r>
          </a:p>
          <a:p>
            <a:pPr algn="just">
              <a:lnSpc>
                <a:spcPct val="100000"/>
              </a:lnSpc>
            </a:pPr>
            <a:r>
              <a:rPr lang="en-US" sz="1800" dirty="0"/>
              <a:t>        return </a:t>
            </a:r>
            <a:r>
              <a:rPr lang="en-US" sz="1800" dirty="0" err="1"/>
              <a:t>jenis</a:t>
            </a:r>
            <a:r>
              <a:rPr lang="en-US" sz="1800" dirty="0"/>
              <a:t>;</a:t>
            </a:r>
          </a:p>
          <a:p>
            <a:pPr algn="just">
              <a:lnSpc>
                <a:spcPct val="100000"/>
              </a:lnSpc>
            </a:pPr>
            <a:r>
              <a:rPr lang="en-US" sz="1800" dirty="0"/>
              <a:t>    }</a:t>
            </a:r>
          </a:p>
          <a:p>
            <a:pPr algn="just"/>
            <a:endParaRPr lang="en-US" sz="2200" dirty="0"/>
          </a:p>
        </p:txBody>
      </p:sp>
      <p:sp>
        <p:nvSpPr>
          <p:cNvPr id="5" name="Subtitle 2">
            <a:extLst>
              <a:ext uri="{FF2B5EF4-FFF2-40B4-BE49-F238E27FC236}">
                <a16:creationId xmlns:a16="http://schemas.microsoft.com/office/drawing/2014/main" id="{989925A9-A402-4AE0-ACC0-C1098A4488DF}"/>
              </a:ext>
            </a:extLst>
          </p:cNvPr>
          <p:cNvSpPr txBox="1">
            <a:spLocks/>
          </p:cNvSpPr>
          <p:nvPr/>
        </p:nvSpPr>
        <p:spPr>
          <a:xfrm>
            <a:off x="8839200" y="3212647"/>
            <a:ext cx="7467600" cy="4166505"/>
          </a:xfrm>
          <a:prstGeom prst="rect">
            <a:avLst/>
          </a:prstGeom>
        </p:spPr>
        <p:txBody>
          <a:bodyPr vert="horz" lIns="91440" tIns="91440" rIns="91440" bIns="91440" rtlCol="0">
            <a:noAutofit/>
          </a:bodyPr>
          <a:lstStyle>
            <a:lvl1pPr marL="0" indent="0" algn="l" defTabSz="1371600" rtl="0" eaLnBrk="1" latinLnBrk="0" hangingPunct="1">
              <a:lnSpc>
                <a:spcPct val="120000"/>
              </a:lnSpc>
              <a:spcBef>
                <a:spcPts val="1500"/>
              </a:spcBef>
              <a:buClr>
                <a:schemeClr val="accent1"/>
              </a:buClr>
              <a:buSzPct val="100000"/>
              <a:buFont typeface="Arial" panose="020B0604020202020204" pitchFamily="34" charset="0"/>
              <a:buNone/>
              <a:defRPr sz="2700" b="0" kern="1200" cap="all" baseline="0">
                <a:solidFill>
                  <a:schemeClr val="tx1"/>
                </a:solidFill>
                <a:effectLst/>
                <a:latin typeface="+mn-lt"/>
                <a:ea typeface="+mn-ea"/>
                <a:cs typeface="+mn-cs"/>
              </a:defRPr>
            </a:lvl1pPr>
            <a:lvl2pPr marL="685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cap="none" baseline="0">
                <a:solidFill>
                  <a:schemeClr val="tx1"/>
                </a:solidFill>
                <a:effectLst/>
                <a:latin typeface="+mn-lt"/>
                <a:ea typeface="+mn-ea"/>
                <a:cs typeface="+mn-cs"/>
              </a:defRPr>
            </a:lvl2pPr>
            <a:lvl3pPr marL="1371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a:solidFill>
                  <a:schemeClr val="tx1"/>
                </a:solidFill>
                <a:effectLst/>
                <a:latin typeface="+mn-lt"/>
                <a:ea typeface="+mn-ea"/>
                <a:cs typeface="+mn-cs"/>
              </a:defRPr>
            </a:lvl3pPr>
            <a:lvl4pPr marL="2057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cap="none" baseline="0">
                <a:solidFill>
                  <a:schemeClr val="tx1"/>
                </a:solidFill>
                <a:effectLst/>
                <a:latin typeface="+mn-lt"/>
                <a:ea typeface="+mn-ea"/>
                <a:cs typeface="+mn-cs"/>
              </a:defRPr>
            </a:lvl4pPr>
            <a:lvl5pPr marL="27432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5pPr>
            <a:lvl6pPr marL="34290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6pPr>
            <a:lvl7pPr marL="4114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7pPr>
            <a:lvl8pPr marL="4800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8pPr>
            <a:lvl9pPr marL="5486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9pPr>
          </a:lstStyle>
          <a:p>
            <a:pPr algn="just"/>
            <a:r>
              <a:rPr lang="en-US" sz="1800" dirty="0"/>
              <a:t>public void </a:t>
            </a:r>
            <a:r>
              <a:rPr lang="en-US" sz="1800" dirty="0" err="1"/>
              <a:t>setJenis</a:t>
            </a:r>
            <a:r>
              <a:rPr lang="en-US" sz="1800" dirty="0"/>
              <a:t>(String </a:t>
            </a:r>
            <a:r>
              <a:rPr lang="en-US" sz="1800" dirty="0" err="1"/>
              <a:t>jenis</a:t>
            </a:r>
            <a:r>
              <a:rPr lang="en-US" sz="1800" dirty="0"/>
              <a:t>) {</a:t>
            </a:r>
          </a:p>
          <a:p>
            <a:pPr algn="just"/>
            <a:r>
              <a:rPr lang="en-US" sz="1800" dirty="0"/>
              <a:t>        </a:t>
            </a:r>
            <a:r>
              <a:rPr lang="en-US" sz="1800" dirty="0" err="1"/>
              <a:t>this.jenis</a:t>
            </a:r>
            <a:r>
              <a:rPr lang="en-US" sz="1800" dirty="0"/>
              <a:t> = </a:t>
            </a:r>
            <a:r>
              <a:rPr lang="en-US" sz="1800" dirty="0" err="1"/>
              <a:t>jenis</a:t>
            </a:r>
            <a:r>
              <a:rPr lang="en-US" sz="1800" dirty="0"/>
              <a:t>;  }</a:t>
            </a:r>
          </a:p>
          <a:p>
            <a:pPr algn="just"/>
            <a:r>
              <a:rPr lang="en-US" sz="1800" dirty="0"/>
              <a:t>int </a:t>
            </a:r>
            <a:r>
              <a:rPr lang="en-US" sz="1800" dirty="0" err="1"/>
              <a:t>getUsia</a:t>
            </a:r>
            <a:r>
              <a:rPr lang="en-US" sz="1800" dirty="0"/>
              <a:t>() {</a:t>
            </a:r>
          </a:p>
          <a:p>
            <a:pPr algn="just"/>
            <a:r>
              <a:rPr lang="en-US" sz="1800" dirty="0"/>
              <a:t>        return </a:t>
            </a:r>
            <a:r>
              <a:rPr lang="en-US" sz="1800" dirty="0" err="1"/>
              <a:t>usia</a:t>
            </a:r>
            <a:r>
              <a:rPr lang="en-US" sz="1800" dirty="0"/>
              <a:t>;   }</a:t>
            </a:r>
          </a:p>
          <a:p>
            <a:pPr algn="just"/>
            <a:r>
              <a:rPr lang="en-US" sz="1800" dirty="0"/>
              <a:t>public void </a:t>
            </a:r>
            <a:r>
              <a:rPr lang="en-US" sz="1800" dirty="0" err="1"/>
              <a:t>setUsia</a:t>
            </a:r>
            <a:r>
              <a:rPr lang="en-US" sz="1800" dirty="0"/>
              <a:t>(int </a:t>
            </a:r>
            <a:r>
              <a:rPr lang="en-US" sz="1800" dirty="0" err="1"/>
              <a:t>usia</a:t>
            </a:r>
            <a:r>
              <a:rPr lang="en-US" sz="1800" dirty="0"/>
              <a:t>) {</a:t>
            </a:r>
          </a:p>
          <a:p>
            <a:pPr algn="just"/>
            <a:r>
              <a:rPr lang="en-US" sz="1800" dirty="0"/>
              <a:t>        </a:t>
            </a:r>
            <a:r>
              <a:rPr lang="en-US" sz="1800" dirty="0" err="1"/>
              <a:t>this.usia</a:t>
            </a:r>
            <a:r>
              <a:rPr lang="en-US" sz="1800" dirty="0"/>
              <a:t> = </a:t>
            </a:r>
            <a:r>
              <a:rPr lang="en-US" sz="1800" dirty="0" err="1"/>
              <a:t>usia</a:t>
            </a:r>
            <a:r>
              <a:rPr lang="en-US" sz="1800" dirty="0"/>
              <a:t>;</a:t>
            </a:r>
          </a:p>
          <a:p>
            <a:pPr algn="just"/>
            <a:r>
              <a:rPr lang="en-US" sz="1800" dirty="0"/>
              <a:t>    }</a:t>
            </a:r>
          </a:p>
          <a:p>
            <a:pPr algn="just"/>
            <a:r>
              <a:rPr lang="en-US" sz="1800" dirty="0"/>
              <a:t>}</a:t>
            </a:r>
          </a:p>
        </p:txBody>
      </p:sp>
      <p:sp>
        <p:nvSpPr>
          <p:cNvPr id="6" name="Subtitle 2">
            <a:extLst>
              <a:ext uri="{FF2B5EF4-FFF2-40B4-BE49-F238E27FC236}">
                <a16:creationId xmlns:a16="http://schemas.microsoft.com/office/drawing/2014/main" id="{ED954BC3-6D3D-452B-8B02-E09A8E1DE4C7}"/>
              </a:ext>
            </a:extLst>
          </p:cNvPr>
          <p:cNvSpPr txBox="1">
            <a:spLocks/>
          </p:cNvSpPr>
          <p:nvPr/>
        </p:nvSpPr>
        <p:spPr>
          <a:xfrm>
            <a:off x="762000" y="6007552"/>
            <a:ext cx="7467600" cy="2743200"/>
          </a:xfrm>
          <a:prstGeom prst="rect">
            <a:avLst/>
          </a:prstGeom>
        </p:spPr>
        <p:txBody>
          <a:bodyPr vert="horz" lIns="91440" tIns="91440" rIns="91440" bIns="91440" rtlCol="0">
            <a:noAutofit/>
          </a:bodyPr>
          <a:lstStyle>
            <a:lvl1pPr marL="0" indent="0" algn="l" defTabSz="1371600" rtl="0" eaLnBrk="1" latinLnBrk="0" hangingPunct="1">
              <a:lnSpc>
                <a:spcPct val="120000"/>
              </a:lnSpc>
              <a:spcBef>
                <a:spcPts val="1500"/>
              </a:spcBef>
              <a:buClr>
                <a:schemeClr val="accent1"/>
              </a:buClr>
              <a:buSzPct val="100000"/>
              <a:buFont typeface="Arial" panose="020B0604020202020204" pitchFamily="34" charset="0"/>
              <a:buNone/>
              <a:defRPr sz="2700" b="0" kern="1200" cap="all" baseline="0">
                <a:solidFill>
                  <a:schemeClr val="tx1"/>
                </a:solidFill>
                <a:effectLst/>
                <a:latin typeface="+mn-lt"/>
                <a:ea typeface="+mn-ea"/>
                <a:cs typeface="+mn-cs"/>
              </a:defRPr>
            </a:lvl1pPr>
            <a:lvl2pPr marL="685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cap="none" baseline="0">
                <a:solidFill>
                  <a:schemeClr val="tx1"/>
                </a:solidFill>
                <a:effectLst/>
                <a:latin typeface="+mn-lt"/>
                <a:ea typeface="+mn-ea"/>
                <a:cs typeface="+mn-cs"/>
              </a:defRPr>
            </a:lvl2pPr>
            <a:lvl3pPr marL="1371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a:solidFill>
                  <a:schemeClr val="tx1"/>
                </a:solidFill>
                <a:effectLst/>
                <a:latin typeface="+mn-lt"/>
                <a:ea typeface="+mn-ea"/>
                <a:cs typeface="+mn-cs"/>
              </a:defRPr>
            </a:lvl3pPr>
            <a:lvl4pPr marL="2057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cap="none" baseline="0">
                <a:solidFill>
                  <a:schemeClr val="tx1"/>
                </a:solidFill>
                <a:effectLst/>
                <a:latin typeface="+mn-lt"/>
                <a:ea typeface="+mn-ea"/>
                <a:cs typeface="+mn-cs"/>
              </a:defRPr>
            </a:lvl4pPr>
            <a:lvl5pPr marL="27432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5pPr>
            <a:lvl6pPr marL="34290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6pPr>
            <a:lvl7pPr marL="4114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7pPr>
            <a:lvl8pPr marL="4800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8pPr>
            <a:lvl9pPr marL="5486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9pPr>
          </a:lstStyle>
          <a:p>
            <a:pPr algn="just">
              <a:lnSpc>
                <a:spcPct val="100000"/>
              </a:lnSpc>
            </a:pPr>
            <a:r>
              <a:rPr lang="en-US" sz="1800" dirty="0" err="1"/>
              <a:t>Beruang</a:t>
            </a:r>
            <a:r>
              <a:rPr lang="en-US" sz="1800" dirty="0"/>
              <a:t> </a:t>
            </a:r>
            <a:r>
              <a:rPr lang="en-US" sz="1800" dirty="0" err="1"/>
              <a:t>ber</a:t>
            </a:r>
            <a:r>
              <a:rPr lang="en-US" sz="1800" dirty="0"/>
              <a:t> = new </a:t>
            </a:r>
            <a:r>
              <a:rPr lang="en-US" sz="1800" dirty="0" err="1"/>
              <a:t>Beruang</a:t>
            </a:r>
            <a:r>
              <a:rPr lang="en-US" sz="1800" dirty="0"/>
              <a:t>();</a:t>
            </a:r>
          </a:p>
          <a:p>
            <a:pPr algn="just">
              <a:lnSpc>
                <a:spcPct val="100000"/>
              </a:lnSpc>
            </a:pPr>
            <a:r>
              <a:rPr lang="en-US" sz="1800" dirty="0"/>
              <a:t>        </a:t>
            </a:r>
            <a:r>
              <a:rPr lang="en-US" sz="1800" dirty="0" err="1"/>
              <a:t>ber.setJenis</a:t>
            </a:r>
            <a:r>
              <a:rPr lang="en-US" sz="1800" dirty="0"/>
              <a:t>("</a:t>
            </a:r>
            <a:r>
              <a:rPr lang="en-US" sz="1800" dirty="0" err="1"/>
              <a:t>Madu</a:t>
            </a:r>
            <a:r>
              <a:rPr lang="en-US" sz="1800" dirty="0"/>
              <a:t>");</a:t>
            </a:r>
          </a:p>
          <a:p>
            <a:pPr algn="just">
              <a:lnSpc>
                <a:spcPct val="100000"/>
              </a:lnSpc>
            </a:pPr>
            <a:r>
              <a:rPr lang="en-US" sz="1800" dirty="0"/>
              <a:t>        </a:t>
            </a:r>
            <a:r>
              <a:rPr lang="en-US" sz="1800" dirty="0" err="1"/>
              <a:t>ber.setUsia</a:t>
            </a:r>
            <a:r>
              <a:rPr lang="en-US" sz="1800" dirty="0"/>
              <a:t>(25);</a:t>
            </a:r>
          </a:p>
          <a:p>
            <a:pPr algn="just">
              <a:lnSpc>
                <a:spcPct val="100000"/>
              </a:lnSpc>
            </a:pPr>
            <a:r>
              <a:rPr lang="en-US" sz="1800" dirty="0"/>
              <a:t>        </a:t>
            </a:r>
            <a:r>
              <a:rPr lang="en-US" sz="1800" dirty="0" err="1"/>
              <a:t>System.out.println</a:t>
            </a:r>
            <a:r>
              <a:rPr lang="en-US" sz="1800" dirty="0"/>
              <a:t>("</a:t>
            </a:r>
            <a:r>
              <a:rPr lang="en-US" sz="1800" dirty="0" err="1"/>
              <a:t>Jenis</a:t>
            </a:r>
            <a:r>
              <a:rPr lang="en-US" sz="1800" dirty="0"/>
              <a:t> </a:t>
            </a:r>
            <a:r>
              <a:rPr lang="en-US" sz="1800" dirty="0" err="1"/>
              <a:t>Beruang</a:t>
            </a:r>
            <a:r>
              <a:rPr lang="en-US" sz="1800" dirty="0"/>
              <a:t> "+</a:t>
            </a:r>
            <a:r>
              <a:rPr lang="en-US" sz="1800" dirty="0" err="1"/>
              <a:t>ber.getJenis</a:t>
            </a:r>
            <a:r>
              <a:rPr lang="en-US" sz="1800" dirty="0"/>
              <a:t>());</a:t>
            </a:r>
          </a:p>
          <a:p>
            <a:pPr algn="just">
              <a:lnSpc>
                <a:spcPct val="100000"/>
              </a:lnSpc>
            </a:pPr>
            <a:r>
              <a:rPr lang="en-US" sz="1800" dirty="0"/>
              <a:t>        </a:t>
            </a:r>
            <a:r>
              <a:rPr lang="en-US" sz="1800" dirty="0" err="1"/>
              <a:t>System.out.println</a:t>
            </a:r>
            <a:r>
              <a:rPr lang="en-US" sz="1800" dirty="0"/>
              <a:t>("</a:t>
            </a:r>
            <a:r>
              <a:rPr lang="en-US" sz="1800" dirty="0" err="1"/>
              <a:t>Usianya</a:t>
            </a:r>
            <a:r>
              <a:rPr lang="en-US" sz="1800" dirty="0"/>
              <a:t> : "+</a:t>
            </a:r>
            <a:r>
              <a:rPr lang="en-US" sz="1800" dirty="0" err="1"/>
              <a:t>ber.getUsia</a:t>
            </a:r>
            <a:r>
              <a:rPr lang="en-US" sz="1800" dirty="0"/>
              <a:t>());</a:t>
            </a:r>
            <a:endParaRPr lang="en-US" sz="2200" dirty="0"/>
          </a:p>
        </p:txBody>
      </p:sp>
    </p:spTree>
    <p:extLst>
      <p:ext uri="{BB962C8B-B14F-4D97-AF65-F5344CB8AC3E}">
        <p14:creationId xmlns:p14="http://schemas.microsoft.com/office/powerpoint/2010/main" val="1330397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2A003-7412-4FDB-9F21-64155EB7FE45}"/>
              </a:ext>
            </a:extLst>
          </p:cNvPr>
          <p:cNvSpPr>
            <a:spLocks noGrp="1"/>
          </p:cNvSpPr>
          <p:nvPr>
            <p:ph type="ctrTitle"/>
          </p:nvPr>
        </p:nvSpPr>
        <p:spPr>
          <a:xfrm>
            <a:off x="914400" y="216475"/>
            <a:ext cx="4419600" cy="685799"/>
          </a:xfrm>
        </p:spPr>
        <p:txBody>
          <a:bodyPr>
            <a:normAutofit/>
          </a:bodyPr>
          <a:lstStyle/>
          <a:p>
            <a:r>
              <a:rPr lang="en-US" sz="4400" dirty="0"/>
              <a:t>Polymorphism</a:t>
            </a:r>
          </a:p>
        </p:txBody>
      </p:sp>
      <p:sp>
        <p:nvSpPr>
          <p:cNvPr id="3" name="Subtitle 2">
            <a:extLst>
              <a:ext uri="{FF2B5EF4-FFF2-40B4-BE49-F238E27FC236}">
                <a16:creationId xmlns:a16="http://schemas.microsoft.com/office/drawing/2014/main" id="{E95AA0BC-C010-4C69-A835-6FFA94F29A07}"/>
              </a:ext>
            </a:extLst>
          </p:cNvPr>
          <p:cNvSpPr>
            <a:spLocks noGrp="1"/>
          </p:cNvSpPr>
          <p:nvPr>
            <p:ph type="subTitle" idx="1"/>
          </p:nvPr>
        </p:nvSpPr>
        <p:spPr>
          <a:xfrm>
            <a:off x="304800" y="925972"/>
            <a:ext cx="9067800" cy="3756100"/>
          </a:xfrm>
        </p:spPr>
        <p:txBody>
          <a:bodyPr>
            <a:normAutofit fontScale="85000" lnSpcReduction="10000"/>
          </a:bodyPr>
          <a:lstStyle/>
          <a:p>
            <a:r>
              <a:rPr lang="en-US" b="0" i="0" dirty="0" err="1">
                <a:solidFill>
                  <a:srgbClr val="222426"/>
                </a:solidFill>
                <a:effectLst/>
                <a:latin typeface="Helvetica Neue"/>
              </a:rPr>
              <a:t>Polimorfisme</a:t>
            </a:r>
            <a:r>
              <a:rPr lang="en-US" b="0" i="0" dirty="0">
                <a:solidFill>
                  <a:srgbClr val="222426"/>
                </a:solidFill>
                <a:effectLst/>
                <a:latin typeface="Helvetica Neue"/>
              </a:rPr>
              <a:t> </a:t>
            </a:r>
            <a:r>
              <a:rPr lang="en-US" b="0" i="0" dirty="0" err="1">
                <a:solidFill>
                  <a:srgbClr val="222426"/>
                </a:solidFill>
                <a:effectLst/>
                <a:latin typeface="Helvetica Neue"/>
              </a:rPr>
              <a:t>adalah</a:t>
            </a:r>
            <a:r>
              <a:rPr lang="en-US" b="0" i="0" dirty="0">
                <a:solidFill>
                  <a:srgbClr val="222426"/>
                </a:solidFill>
                <a:effectLst/>
                <a:latin typeface="Helvetica Neue"/>
              </a:rPr>
              <a:t> </a:t>
            </a:r>
            <a:r>
              <a:rPr lang="en-US" b="0" i="0" dirty="0" err="1">
                <a:solidFill>
                  <a:srgbClr val="222426"/>
                </a:solidFill>
                <a:effectLst/>
                <a:latin typeface="Helvetica Neue"/>
              </a:rPr>
              <a:t>kemampuan</a:t>
            </a:r>
            <a:r>
              <a:rPr lang="en-US" b="0" i="0" dirty="0">
                <a:solidFill>
                  <a:srgbClr val="222426"/>
                </a:solidFill>
                <a:effectLst/>
                <a:latin typeface="Helvetica Neue"/>
              </a:rPr>
              <a:t> </a:t>
            </a:r>
            <a:r>
              <a:rPr lang="en-US" b="0" i="0" dirty="0" err="1">
                <a:solidFill>
                  <a:srgbClr val="222426"/>
                </a:solidFill>
                <a:effectLst/>
                <a:latin typeface="Helvetica Neue"/>
              </a:rPr>
              <a:t>suatu</a:t>
            </a:r>
            <a:r>
              <a:rPr lang="en-US" b="0" i="0" dirty="0">
                <a:solidFill>
                  <a:srgbClr val="222426"/>
                </a:solidFill>
                <a:effectLst/>
                <a:latin typeface="Helvetica Neue"/>
              </a:rPr>
              <a:t> </a:t>
            </a:r>
            <a:r>
              <a:rPr lang="en-US" b="0" i="0" dirty="0" err="1">
                <a:solidFill>
                  <a:srgbClr val="222426"/>
                </a:solidFill>
                <a:effectLst/>
                <a:latin typeface="Helvetica Neue"/>
              </a:rPr>
              <a:t>metode</a:t>
            </a:r>
            <a:r>
              <a:rPr lang="en-US" b="0" i="0" dirty="0">
                <a:solidFill>
                  <a:srgbClr val="222426"/>
                </a:solidFill>
                <a:effectLst/>
                <a:latin typeface="Helvetica Neue"/>
              </a:rPr>
              <a:t> </a:t>
            </a:r>
            <a:r>
              <a:rPr lang="en-US" b="0" i="0" dirty="0" err="1">
                <a:solidFill>
                  <a:srgbClr val="222426"/>
                </a:solidFill>
                <a:effectLst/>
                <a:latin typeface="Helvetica Neue"/>
              </a:rPr>
              <a:t>untuk</a:t>
            </a:r>
            <a:r>
              <a:rPr lang="en-US" b="0" i="0" dirty="0">
                <a:solidFill>
                  <a:srgbClr val="222426"/>
                </a:solidFill>
                <a:effectLst/>
                <a:latin typeface="Helvetica Neue"/>
              </a:rPr>
              <a:t> </a:t>
            </a:r>
            <a:r>
              <a:rPr lang="en-US" b="0" i="0" dirty="0" err="1">
                <a:solidFill>
                  <a:srgbClr val="222426"/>
                </a:solidFill>
                <a:effectLst/>
                <a:latin typeface="Helvetica Neue"/>
              </a:rPr>
              <a:t>melakukan</a:t>
            </a:r>
            <a:r>
              <a:rPr lang="en-US" b="0" i="0" dirty="0">
                <a:solidFill>
                  <a:srgbClr val="222426"/>
                </a:solidFill>
                <a:effectLst/>
                <a:latin typeface="Helvetica Neue"/>
              </a:rPr>
              <a:t> </a:t>
            </a:r>
            <a:r>
              <a:rPr lang="en-US" b="0" i="0" dirty="0" err="1">
                <a:solidFill>
                  <a:srgbClr val="222426"/>
                </a:solidFill>
                <a:effectLst/>
                <a:latin typeface="Helvetica Neue"/>
              </a:rPr>
              <a:t>hal-hal</a:t>
            </a:r>
            <a:r>
              <a:rPr lang="en-US" b="0" i="0" dirty="0">
                <a:solidFill>
                  <a:srgbClr val="222426"/>
                </a:solidFill>
                <a:effectLst/>
                <a:latin typeface="Helvetica Neue"/>
              </a:rPr>
              <a:t> yang </a:t>
            </a:r>
            <a:r>
              <a:rPr lang="en-US" b="0" i="0" dirty="0" err="1">
                <a:solidFill>
                  <a:srgbClr val="222426"/>
                </a:solidFill>
                <a:effectLst/>
                <a:latin typeface="Helvetica Neue"/>
              </a:rPr>
              <a:t>berbeda</a:t>
            </a:r>
            <a:r>
              <a:rPr lang="en-US" b="0" i="0" dirty="0">
                <a:solidFill>
                  <a:srgbClr val="222426"/>
                </a:solidFill>
                <a:effectLst/>
                <a:latin typeface="Helvetica Neue"/>
              </a:rPr>
              <a:t> </a:t>
            </a:r>
            <a:r>
              <a:rPr lang="en-US" b="0" i="0" dirty="0" err="1">
                <a:solidFill>
                  <a:srgbClr val="222426"/>
                </a:solidFill>
                <a:effectLst/>
                <a:latin typeface="Helvetica Neue"/>
              </a:rPr>
              <a:t>berdasarkan</a:t>
            </a:r>
            <a:r>
              <a:rPr lang="en-US" b="0" i="0" dirty="0">
                <a:solidFill>
                  <a:srgbClr val="222426"/>
                </a:solidFill>
                <a:effectLst/>
                <a:latin typeface="Helvetica Neue"/>
              </a:rPr>
              <a:t> </a:t>
            </a:r>
            <a:r>
              <a:rPr lang="en-US" b="0" i="0" dirty="0" err="1">
                <a:solidFill>
                  <a:srgbClr val="222426"/>
                </a:solidFill>
                <a:effectLst/>
                <a:latin typeface="Helvetica Neue"/>
              </a:rPr>
              <a:t>objek</a:t>
            </a:r>
            <a:r>
              <a:rPr lang="en-US" b="0" i="0" dirty="0">
                <a:solidFill>
                  <a:srgbClr val="222426"/>
                </a:solidFill>
                <a:effectLst/>
                <a:latin typeface="Helvetica Neue"/>
              </a:rPr>
              <a:t> yang </a:t>
            </a:r>
            <a:r>
              <a:rPr lang="en-US" b="0" i="0" dirty="0" err="1">
                <a:solidFill>
                  <a:srgbClr val="222426"/>
                </a:solidFill>
                <a:effectLst/>
                <a:latin typeface="Helvetica Neue"/>
              </a:rPr>
              <a:t>dikerjakannya</a:t>
            </a:r>
            <a:r>
              <a:rPr lang="en-US" b="0" i="0" dirty="0">
                <a:solidFill>
                  <a:srgbClr val="222426"/>
                </a:solidFill>
                <a:effectLst/>
                <a:latin typeface="Helvetica Neue"/>
              </a:rPr>
              <a:t>. </a:t>
            </a:r>
            <a:r>
              <a:rPr lang="en-US" b="0" i="0" dirty="0" err="1">
                <a:solidFill>
                  <a:srgbClr val="222426"/>
                </a:solidFill>
                <a:effectLst/>
                <a:latin typeface="Helvetica Neue"/>
              </a:rPr>
              <a:t>Dengan</a:t>
            </a:r>
            <a:r>
              <a:rPr lang="en-US" b="0" i="0" dirty="0">
                <a:solidFill>
                  <a:srgbClr val="222426"/>
                </a:solidFill>
                <a:effectLst/>
                <a:latin typeface="Helvetica Neue"/>
              </a:rPr>
              <a:t> kata lain, </a:t>
            </a:r>
            <a:r>
              <a:rPr lang="en-US" b="0" i="0" dirty="0" err="1">
                <a:solidFill>
                  <a:srgbClr val="222426"/>
                </a:solidFill>
                <a:effectLst/>
                <a:latin typeface="Helvetica Neue"/>
              </a:rPr>
              <a:t>polimorfisme</a:t>
            </a:r>
            <a:r>
              <a:rPr lang="en-US" b="0" i="0" dirty="0">
                <a:solidFill>
                  <a:srgbClr val="222426"/>
                </a:solidFill>
                <a:effectLst/>
                <a:latin typeface="Helvetica Neue"/>
              </a:rPr>
              <a:t> </a:t>
            </a:r>
            <a:r>
              <a:rPr lang="en-US" b="0" i="0" dirty="0" err="1">
                <a:solidFill>
                  <a:srgbClr val="222426"/>
                </a:solidFill>
                <a:effectLst/>
                <a:latin typeface="Helvetica Neue"/>
              </a:rPr>
              <a:t>memungkinkan</a:t>
            </a:r>
            <a:r>
              <a:rPr lang="en-US" b="0" i="0" dirty="0">
                <a:solidFill>
                  <a:srgbClr val="222426"/>
                </a:solidFill>
                <a:effectLst/>
                <a:latin typeface="Helvetica Neue"/>
              </a:rPr>
              <a:t> Anda </a:t>
            </a:r>
            <a:r>
              <a:rPr lang="en-US" b="0" i="0" dirty="0" err="1">
                <a:solidFill>
                  <a:srgbClr val="222426"/>
                </a:solidFill>
                <a:effectLst/>
                <a:latin typeface="Helvetica Neue"/>
              </a:rPr>
              <a:t>mendefinisikan</a:t>
            </a:r>
            <a:r>
              <a:rPr lang="en-US" b="0" i="0" dirty="0">
                <a:solidFill>
                  <a:srgbClr val="222426"/>
                </a:solidFill>
                <a:effectLst/>
                <a:latin typeface="Helvetica Neue"/>
              </a:rPr>
              <a:t> </a:t>
            </a:r>
            <a:r>
              <a:rPr lang="en-US" b="0" i="0" dirty="0" err="1">
                <a:solidFill>
                  <a:srgbClr val="222426"/>
                </a:solidFill>
                <a:effectLst/>
                <a:latin typeface="Helvetica Neue"/>
              </a:rPr>
              <a:t>satu</a:t>
            </a:r>
            <a:r>
              <a:rPr lang="en-US" b="0" i="0" dirty="0">
                <a:solidFill>
                  <a:srgbClr val="222426"/>
                </a:solidFill>
                <a:effectLst/>
                <a:latin typeface="Helvetica Neue"/>
              </a:rPr>
              <a:t> </a:t>
            </a:r>
            <a:r>
              <a:rPr lang="en-US" b="0" i="0" dirty="0" err="1">
                <a:solidFill>
                  <a:srgbClr val="222426"/>
                </a:solidFill>
                <a:effectLst/>
                <a:latin typeface="Helvetica Neue"/>
              </a:rPr>
              <a:t>antarmuka</a:t>
            </a:r>
            <a:r>
              <a:rPr lang="en-US" b="0" i="0" dirty="0">
                <a:solidFill>
                  <a:srgbClr val="222426"/>
                </a:solidFill>
                <a:effectLst/>
                <a:latin typeface="Helvetica Neue"/>
              </a:rPr>
              <a:t> dan </a:t>
            </a:r>
            <a:r>
              <a:rPr lang="en-US" b="0" i="0" dirty="0" err="1">
                <a:solidFill>
                  <a:srgbClr val="222426"/>
                </a:solidFill>
                <a:effectLst/>
                <a:latin typeface="Helvetica Neue"/>
              </a:rPr>
              <a:t>memiliki</a:t>
            </a:r>
            <a:r>
              <a:rPr lang="en-US" b="0" i="0" dirty="0">
                <a:solidFill>
                  <a:srgbClr val="222426"/>
                </a:solidFill>
                <a:effectLst/>
                <a:latin typeface="Helvetica Neue"/>
              </a:rPr>
              <a:t> </a:t>
            </a:r>
            <a:r>
              <a:rPr lang="en-US" b="0" i="0" dirty="0" err="1">
                <a:solidFill>
                  <a:srgbClr val="222426"/>
                </a:solidFill>
                <a:effectLst/>
                <a:latin typeface="Helvetica Neue"/>
              </a:rPr>
              <a:t>banyak</a:t>
            </a:r>
            <a:r>
              <a:rPr lang="en-US" b="0" i="0" dirty="0">
                <a:solidFill>
                  <a:srgbClr val="222426"/>
                </a:solidFill>
                <a:effectLst/>
                <a:latin typeface="Helvetica Neue"/>
              </a:rPr>
              <a:t> </a:t>
            </a:r>
            <a:r>
              <a:rPr lang="en-US" b="0" i="0" dirty="0" err="1">
                <a:solidFill>
                  <a:srgbClr val="222426"/>
                </a:solidFill>
                <a:effectLst/>
                <a:latin typeface="Helvetica Neue"/>
              </a:rPr>
              <a:t>implementasi</a:t>
            </a:r>
            <a:r>
              <a:rPr lang="en-US" b="0" i="0" dirty="0">
                <a:solidFill>
                  <a:srgbClr val="222426"/>
                </a:solidFill>
                <a:effectLst/>
                <a:latin typeface="Helvetica Neue"/>
              </a:rPr>
              <a:t>.</a:t>
            </a:r>
            <a:endParaRPr lang="en-US" b="0" i="0" dirty="0">
              <a:solidFill>
                <a:srgbClr val="000000"/>
              </a:solidFill>
              <a:effectLst/>
              <a:latin typeface="Verdana" panose="020B0604030504040204" pitchFamily="34" charset="0"/>
            </a:endParaRPr>
          </a:p>
          <a:p>
            <a:r>
              <a:rPr lang="en-US" b="0" i="0" dirty="0" err="1">
                <a:solidFill>
                  <a:srgbClr val="000000"/>
                </a:solidFill>
                <a:effectLst/>
                <a:latin typeface="Verdana" panose="020B0604030504040204" pitchFamily="34" charset="0"/>
              </a:rPr>
              <a:t>Polimorfisme</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berarti</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banyak</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bentuk</a:t>
            </a:r>
            <a:r>
              <a:rPr lang="en-US" b="0" i="0" dirty="0">
                <a:solidFill>
                  <a:srgbClr val="000000"/>
                </a:solidFill>
                <a:effectLst/>
                <a:latin typeface="Verdana" panose="020B0604030504040204" pitchFamily="34" charset="0"/>
              </a:rPr>
              <a:t>", dan itu </a:t>
            </a:r>
            <a:r>
              <a:rPr lang="en-US" b="0" i="0" dirty="0" err="1">
                <a:solidFill>
                  <a:srgbClr val="000000"/>
                </a:solidFill>
                <a:effectLst/>
                <a:latin typeface="Verdana" panose="020B0604030504040204" pitchFamily="34" charset="0"/>
              </a:rPr>
              <a:t>terjadi</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ketika</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kita</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memiliki</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banyak</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kelas</a:t>
            </a:r>
            <a:r>
              <a:rPr lang="en-US" b="0" i="0" dirty="0">
                <a:solidFill>
                  <a:srgbClr val="000000"/>
                </a:solidFill>
                <a:effectLst/>
                <a:latin typeface="Verdana" panose="020B0604030504040204" pitchFamily="34" charset="0"/>
              </a:rPr>
              <a:t> yang </a:t>
            </a:r>
            <a:r>
              <a:rPr lang="en-US" b="0" i="0" dirty="0" err="1">
                <a:solidFill>
                  <a:srgbClr val="000000"/>
                </a:solidFill>
                <a:effectLst/>
                <a:latin typeface="Verdana" panose="020B0604030504040204" pitchFamily="34" charset="0"/>
              </a:rPr>
              <a:t>terkait</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satu</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sama</a:t>
            </a:r>
            <a:r>
              <a:rPr lang="en-US" b="0" i="0" dirty="0">
                <a:solidFill>
                  <a:srgbClr val="000000"/>
                </a:solidFill>
                <a:effectLst/>
                <a:latin typeface="Verdana" panose="020B0604030504040204" pitchFamily="34" charset="0"/>
              </a:rPr>
              <a:t> lain </a:t>
            </a:r>
            <a:r>
              <a:rPr lang="en-US" b="0" i="0" dirty="0" err="1">
                <a:solidFill>
                  <a:srgbClr val="000000"/>
                </a:solidFill>
                <a:effectLst/>
                <a:latin typeface="Verdana" panose="020B0604030504040204" pitchFamily="34" charset="0"/>
              </a:rPr>
              <a:t>melalui</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pewarisan</a:t>
            </a:r>
            <a:r>
              <a:rPr lang="en-US" b="0" i="0" dirty="0">
                <a:solidFill>
                  <a:srgbClr val="000000"/>
                </a:solidFill>
                <a:effectLst/>
                <a:latin typeface="Verdana" panose="020B0604030504040204" pitchFamily="34" charset="0"/>
              </a:rPr>
              <a:t>.</a:t>
            </a:r>
            <a:endParaRPr lang="en-US" dirty="0"/>
          </a:p>
        </p:txBody>
      </p:sp>
      <p:sp>
        <p:nvSpPr>
          <p:cNvPr id="4" name="Subtitle 2">
            <a:extLst>
              <a:ext uri="{FF2B5EF4-FFF2-40B4-BE49-F238E27FC236}">
                <a16:creationId xmlns:a16="http://schemas.microsoft.com/office/drawing/2014/main" id="{B49C8474-9084-4B19-8305-810945DEB4BC}"/>
              </a:ext>
            </a:extLst>
          </p:cNvPr>
          <p:cNvSpPr txBox="1">
            <a:spLocks/>
          </p:cNvSpPr>
          <p:nvPr/>
        </p:nvSpPr>
        <p:spPr>
          <a:xfrm>
            <a:off x="457200" y="5617009"/>
            <a:ext cx="6400800" cy="2781299"/>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b="0" i="0" dirty="0" err="1">
                <a:solidFill>
                  <a:srgbClr val="000000"/>
                </a:solidFill>
                <a:effectLst/>
                <a:latin typeface="Verdana" panose="020B0604030504040204" pitchFamily="34" charset="0"/>
              </a:rPr>
              <a:t>Ini</a:t>
            </a:r>
            <a:r>
              <a:rPr lang="en-US" b="0" i="0" dirty="0">
                <a:solidFill>
                  <a:srgbClr val="000000"/>
                </a:solidFill>
                <a:effectLst/>
                <a:latin typeface="Verdana" panose="020B0604030504040204" pitchFamily="34" charset="0"/>
              </a:rPr>
              <a:t> </a:t>
            </a:r>
            <a:r>
              <a:rPr lang="en-US" dirty="0" err="1">
                <a:solidFill>
                  <a:srgbClr val="000000"/>
                </a:solidFill>
                <a:latin typeface="Verdana" panose="020B0604030504040204" pitchFamily="34" charset="0"/>
              </a:rPr>
              <a:t>b</a:t>
            </a:r>
            <a:r>
              <a:rPr lang="en-US" b="0" i="0" dirty="0" err="1">
                <a:solidFill>
                  <a:srgbClr val="000000"/>
                </a:solidFill>
                <a:effectLst/>
                <a:latin typeface="Verdana" panose="020B0604030504040204" pitchFamily="34" charset="0"/>
              </a:rPr>
              <a:t>erguna</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untuk</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penggunaan</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kembali</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kode</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menggunakan</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kembali</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atribut</a:t>
            </a:r>
            <a:r>
              <a:rPr lang="en-US" b="0" i="0" dirty="0">
                <a:solidFill>
                  <a:srgbClr val="000000"/>
                </a:solidFill>
                <a:effectLst/>
                <a:latin typeface="Verdana" panose="020B0604030504040204" pitchFamily="34" charset="0"/>
              </a:rPr>
              <a:t> dan </a:t>
            </a:r>
            <a:r>
              <a:rPr lang="en-US" b="0" i="0" dirty="0" err="1">
                <a:solidFill>
                  <a:srgbClr val="000000"/>
                </a:solidFill>
                <a:effectLst/>
                <a:latin typeface="Verdana" panose="020B0604030504040204" pitchFamily="34" charset="0"/>
              </a:rPr>
              <a:t>metode</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kelas</a:t>
            </a:r>
            <a:r>
              <a:rPr lang="en-US" b="0" i="0" dirty="0">
                <a:solidFill>
                  <a:srgbClr val="000000"/>
                </a:solidFill>
                <a:effectLst/>
                <a:latin typeface="Verdana" panose="020B0604030504040204" pitchFamily="34" charset="0"/>
              </a:rPr>
              <a:t> yang </a:t>
            </a:r>
            <a:r>
              <a:rPr lang="en-US" b="0" i="0" dirty="0" err="1">
                <a:solidFill>
                  <a:srgbClr val="000000"/>
                </a:solidFill>
                <a:effectLst/>
                <a:latin typeface="Verdana" panose="020B0604030504040204" pitchFamily="34" charset="0"/>
              </a:rPr>
              <a:t>ada</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saat</a:t>
            </a:r>
            <a:r>
              <a:rPr lang="en-US" b="0" i="0" dirty="0">
                <a:solidFill>
                  <a:srgbClr val="000000"/>
                </a:solidFill>
                <a:effectLst/>
                <a:latin typeface="Verdana" panose="020B0604030504040204" pitchFamily="34" charset="0"/>
              </a:rPr>
              <a:t> Anda </a:t>
            </a:r>
            <a:r>
              <a:rPr lang="en-US" b="0" i="0" dirty="0" err="1">
                <a:solidFill>
                  <a:srgbClr val="000000"/>
                </a:solidFill>
                <a:effectLst/>
                <a:latin typeface="Verdana" panose="020B0604030504040204" pitchFamily="34" charset="0"/>
              </a:rPr>
              <a:t>membuat</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kelas</a:t>
            </a:r>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baru</a:t>
            </a:r>
            <a:r>
              <a:rPr lang="en-US" b="0" i="0" dirty="0">
                <a:solidFill>
                  <a:srgbClr val="000000"/>
                </a:solidFill>
                <a:effectLst/>
                <a:latin typeface="Verdana" panose="020B0604030504040204" pitchFamily="34" charset="0"/>
              </a:rPr>
              <a:t>.</a:t>
            </a:r>
            <a:endParaRPr lang="en-US" dirty="0"/>
          </a:p>
        </p:txBody>
      </p:sp>
      <p:sp>
        <p:nvSpPr>
          <p:cNvPr id="5" name="Subtitle 2">
            <a:extLst>
              <a:ext uri="{FF2B5EF4-FFF2-40B4-BE49-F238E27FC236}">
                <a16:creationId xmlns:a16="http://schemas.microsoft.com/office/drawing/2014/main" id="{5189E9BD-6EE0-4878-B459-AFB0D2A04D32}"/>
              </a:ext>
            </a:extLst>
          </p:cNvPr>
          <p:cNvSpPr txBox="1">
            <a:spLocks/>
          </p:cNvSpPr>
          <p:nvPr/>
        </p:nvSpPr>
        <p:spPr>
          <a:xfrm>
            <a:off x="12268200" y="703365"/>
            <a:ext cx="6400800" cy="3756101"/>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b="0" i="0" dirty="0" err="1">
                <a:solidFill>
                  <a:srgbClr val="000000"/>
                </a:solidFill>
                <a:effectLst/>
                <a:latin typeface="Verdana" panose="020B0604030504040204" pitchFamily="34" charset="0"/>
              </a:rPr>
              <a:t>Burung</a:t>
            </a:r>
            <a:r>
              <a:rPr lang="en-US" b="0" i="0" dirty="0">
                <a:solidFill>
                  <a:srgbClr val="000000"/>
                </a:solidFill>
                <a:effectLst/>
                <a:latin typeface="Verdana" panose="020B0604030504040204" pitchFamily="34" charset="0"/>
              </a:rPr>
              <a:t> bur = new </a:t>
            </a:r>
            <a:r>
              <a:rPr lang="en-US" b="0" i="0" dirty="0" err="1">
                <a:solidFill>
                  <a:srgbClr val="000000"/>
                </a:solidFill>
                <a:effectLst/>
                <a:latin typeface="Verdana" panose="020B0604030504040204" pitchFamily="34" charset="0"/>
              </a:rPr>
              <a:t>Burung</a:t>
            </a:r>
            <a:r>
              <a:rPr lang="en-US" b="0" i="0" dirty="0">
                <a:solidFill>
                  <a:srgbClr val="000000"/>
                </a:solidFill>
                <a:effectLst/>
                <a:latin typeface="Verdana" panose="020B0604030504040204" pitchFamily="34" charset="0"/>
              </a:rPr>
              <a:t>();</a:t>
            </a:r>
          </a:p>
          <a:p>
            <a:pPr algn="just"/>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bur.suara</a:t>
            </a:r>
            <a:r>
              <a:rPr lang="en-US" b="0" i="0" dirty="0">
                <a:solidFill>
                  <a:srgbClr val="000000"/>
                </a:solidFill>
                <a:effectLst/>
                <a:latin typeface="Verdana" panose="020B0604030504040204" pitchFamily="34" charset="0"/>
              </a:rPr>
              <a:t>();</a:t>
            </a:r>
          </a:p>
          <a:p>
            <a:pPr algn="just"/>
            <a:r>
              <a:rPr lang="en-US" b="0" i="0" dirty="0">
                <a:solidFill>
                  <a:srgbClr val="000000"/>
                </a:solidFill>
                <a:effectLst/>
                <a:latin typeface="Verdana" panose="020B0604030504040204" pitchFamily="34" charset="0"/>
              </a:rPr>
              <a:t>      </a:t>
            </a:r>
          </a:p>
          <a:p>
            <a:pPr algn="just"/>
            <a:r>
              <a:rPr lang="en-US" b="0" i="0" dirty="0">
                <a:solidFill>
                  <a:srgbClr val="000000"/>
                </a:solidFill>
                <a:effectLst/>
                <a:latin typeface="Verdana" panose="020B0604030504040204" pitchFamily="34" charset="0"/>
              </a:rPr>
              <a:t>      bur = new </a:t>
            </a:r>
            <a:r>
              <a:rPr lang="en-US" b="0" i="0" dirty="0" err="1">
                <a:solidFill>
                  <a:srgbClr val="000000"/>
                </a:solidFill>
                <a:effectLst/>
                <a:latin typeface="Verdana" panose="020B0604030504040204" pitchFamily="34" charset="0"/>
              </a:rPr>
              <a:t>Merpati</a:t>
            </a:r>
            <a:r>
              <a:rPr lang="en-US" b="0" i="0" dirty="0">
                <a:solidFill>
                  <a:srgbClr val="000000"/>
                </a:solidFill>
                <a:effectLst/>
                <a:latin typeface="Verdana" panose="020B0604030504040204" pitchFamily="34" charset="0"/>
              </a:rPr>
              <a:t>();</a:t>
            </a:r>
          </a:p>
          <a:p>
            <a:pPr algn="just"/>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bur.suara</a:t>
            </a:r>
            <a:r>
              <a:rPr lang="en-US" b="0" i="0" dirty="0">
                <a:solidFill>
                  <a:srgbClr val="000000"/>
                </a:solidFill>
                <a:effectLst/>
                <a:latin typeface="Verdana" panose="020B0604030504040204" pitchFamily="34" charset="0"/>
              </a:rPr>
              <a:t>();</a:t>
            </a:r>
          </a:p>
          <a:p>
            <a:pPr algn="just"/>
            <a:r>
              <a:rPr lang="en-US" b="0" i="0" dirty="0">
                <a:solidFill>
                  <a:srgbClr val="000000"/>
                </a:solidFill>
                <a:effectLst/>
                <a:latin typeface="Verdana" panose="020B0604030504040204" pitchFamily="34" charset="0"/>
              </a:rPr>
              <a:t>      </a:t>
            </a:r>
          </a:p>
          <a:p>
            <a:pPr algn="just"/>
            <a:r>
              <a:rPr lang="en-US" b="0" i="0" dirty="0">
                <a:solidFill>
                  <a:srgbClr val="000000"/>
                </a:solidFill>
                <a:effectLst/>
                <a:latin typeface="Verdana" panose="020B0604030504040204" pitchFamily="34" charset="0"/>
              </a:rPr>
              <a:t>      bur = new </a:t>
            </a:r>
            <a:r>
              <a:rPr lang="en-US" b="0" i="0" dirty="0" err="1">
                <a:solidFill>
                  <a:srgbClr val="000000"/>
                </a:solidFill>
                <a:effectLst/>
                <a:latin typeface="Verdana" panose="020B0604030504040204" pitchFamily="34" charset="0"/>
              </a:rPr>
              <a:t>Gagak</a:t>
            </a:r>
            <a:r>
              <a:rPr lang="en-US" b="0" i="0" dirty="0">
                <a:solidFill>
                  <a:srgbClr val="000000"/>
                </a:solidFill>
                <a:effectLst/>
                <a:latin typeface="Verdana" panose="020B0604030504040204" pitchFamily="34" charset="0"/>
              </a:rPr>
              <a:t>();</a:t>
            </a:r>
          </a:p>
          <a:p>
            <a:pPr algn="just"/>
            <a:r>
              <a:rPr lang="en-US" b="0" i="0" dirty="0">
                <a:solidFill>
                  <a:srgbClr val="000000"/>
                </a:solidFill>
                <a:effectLst/>
                <a:latin typeface="Verdana" panose="020B0604030504040204" pitchFamily="34" charset="0"/>
              </a:rPr>
              <a:t>      </a:t>
            </a:r>
            <a:r>
              <a:rPr lang="en-US" b="0" i="0" dirty="0" err="1">
                <a:solidFill>
                  <a:srgbClr val="000000"/>
                </a:solidFill>
                <a:effectLst/>
                <a:latin typeface="Verdana" panose="020B0604030504040204" pitchFamily="34" charset="0"/>
              </a:rPr>
              <a:t>bur.suara</a:t>
            </a:r>
            <a:r>
              <a:rPr lang="en-US" b="0" i="0" dirty="0">
                <a:solidFill>
                  <a:srgbClr val="000000"/>
                </a:solidFill>
                <a:effectLst/>
                <a:latin typeface="Verdana" panose="020B0604030504040204" pitchFamily="34" charset="0"/>
              </a:rPr>
              <a:t>();</a:t>
            </a:r>
          </a:p>
          <a:p>
            <a:pPr algn="just"/>
            <a:r>
              <a:rPr lang="en-US" b="0" i="0" dirty="0">
                <a:solidFill>
                  <a:srgbClr val="000000"/>
                </a:solidFill>
                <a:effectLst/>
                <a:latin typeface="Verdana" panose="020B0604030504040204" pitchFamily="34" charset="0"/>
              </a:rPr>
              <a:t>    }</a:t>
            </a:r>
            <a:endParaRPr lang="en-US" dirty="0"/>
          </a:p>
        </p:txBody>
      </p:sp>
    </p:spTree>
    <p:extLst>
      <p:ext uri="{BB962C8B-B14F-4D97-AF65-F5344CB8AC3E}">
        <p14:creationId xmlns:p14="http://schemas.microsoft.com/office/powerpoint/2010/main" val="1620261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58F86-6B59-4C6F-B4A4-2346B662A2D3}"/>
              </a:ext>
            </a:extLst>
          </p:cNvPr>
          <p:cNvSpPr>
            <a:spLocks noGrp="1"/>
          </p:cNvSpPr>
          <p:nvPr>
            <p:ph type="ctrTitle"/>
          </p:nvPr>
        </p:nvSpPr>
        <p:spPr>
          <a:xfrm>
            <a:off x="609600" y="385579"/>
            <a:ext cx="8229600" cy="827520"/>
          </a:xfrm>
        </p:spPr>
        <p:txBody>
          <a:bodyPr>
            <a:normAutofit/>
          </a:bodyPr>
          <a:lstStyle/>
          <a:p>
            <a:r>
              <a:rPr lang="en-US" sz="4400" dirty="0"/>
              <a:t>Overloading</a:t>
            </a:r>
          </a:p>
        </p:txBody>
      </p:sp>
      <p:sp>
        <p:nvSpPr>
          <p:cNvPr id="3" name="Subtitle 2">
            <a:extLst>
              <a:ext uri="{FF2B5EF4-FFF2-40B4-BE49-F238E27FC236}">
                <a16:creationId xmlns:a16="http://schemas.microsoft.com/office/drawing/2014/main" id="{7AEB75EF-24FB-4AF6-93DB-0BFB4FC3AAD4}"/>
              </a:ext>
            </a:extLst>
          </p:cNvPr>
          <p:cNvSpPr>
            <a:spLocks noGrp="1"/>
          </p:cNvSpPr>
          <p:nvPr>
            <p:ph type="subTitle" idx="1"/>
          </p:nvPr>
        </p:nvSpPr>
        <p:spPr>
          <a:xfrm>
            <a:off x="304800" y="1505817"/>
            <a:ext cx="7696200" cy="1466432"/>
          </a:xfrm>
        </p:spPr>
        <p:txBody>
          <a:bodyPr>
            <a:noAutofit/>
          </a:bodyPr>
          <a:lstStyle/>
          <a:p>
            <a:pPr algn="just"/>
            <a:r>
              <a:rPr lang="en-US" sz="3000" b="1" i="1" dirty="0">
                <a:solidFill>
                  <a:srgbClr val="282829"/>
                </a:solidFill>
                <a:effectLst/>
                <a:latin typeface="-apple-system"/>
              </a:rPr>
              <a:t>Overloading</a:t>
            </a:r>
            <a:r>
              <a:rPr lang="en-US" sz="3000" b="0" i="0" dirty="0">
                <a:solidFill>
                  <a:srgbClr val="282829"/>
                </a:solidFill>
                <a:effectLst/>
                <a:latin typeface="-apple-system"/>
              </a:rPr>
              <a:t> </a:t>
            </a:r>
            <a:r>
              <a:rPr lang="en-US" sz="3000" b="0" i="0" dirty="0" err="1">
                <a:solidFill>
                  <a:srgbClr val="282829"/>
                </a:solidFill>
                <a:effectLst/>
                <a:latin typeface="-apple-system"/>
              </a:rPr>
              <a:t>adalah</a:t>
            </a:r>
            <a:r>
              <a:rPr lang="en-US" sz="3000" b="0" i="0" dirty="0">
                <a:solidFill>
                  <a:srgbClr val="282829"/>
                </a:solidFill>
                <a:effectLst/>
                <a:latin typeface="-apple-system"/>
              </a:rPr>
              <a:t> </a:t>
            </a:r>
            <a:r>
              <a:rPr lang="en-US" sz="3000" b="0" i="0" dirty="0" err="1">
                <a:solidFill>
                  <a:srgbClr val="282829"/>
                </a:solidFill>
                <a:effectLst/>
                <a:latin typeface="-apple-system"/>
              </a:rPr>
              <a:t>kumpulan</a:t>
            </a:r>
            <a:r>
              <a:rPr lang="en-US" sz="3000" b="0" i="0" dirty="0">
                <a:solidFill>
                  <a:srgbClr val="282829"/>
                </a:solidFill>
                <a:effectLst/>
                <a:latin typeface="-apple-system"/>
              </a:rPr>
              <a:t> method yang </a:t>
            </a:r>
            <a:r>
              <a:rPr lang="en-US" sz="3000" b="0" i="0" dirty="0" err="1">
                <a:solidFill>
                  <a:srgbClr val="282829"/>
                </a:solidFill>
                <a:effectLst/>
                <a:latin typeface="-apple-system"/>
              </a:rPr>
              <a:t>bernama</a:t>
            </a:r>
            <a:r>
              <a:rPr lang="en-US" sz="3000" b="0" i="0" dirty="0">
                <a:solidFill>
                  <a:srgbClr val="282829"/>
                </a:solidFill>
                <a:effectLst/>
                <a:latin typeface="-apple-system"/>
              </a:rPr>
              <a:t> </a:t>
            </a:r>
            <a:r>
              <a:rPr lang="en-US" sz="3000" b="0" i="0" dirty="0" err="1">
                <a:solidFill>
                  <a:srgbClr val="282829"/>
                </a:solidFill>
                <a:effectLst/>
                <a:latin typeface="-apple-system"/>
              </a:rPr>
              <a:t>sama</a:t>
            </a:r>
            <a:r>
              <a:rPr lang="en-US" sz="3000" b="0" i="0" dirty="0">
                <a:solidFill>
                  <a:srgbClr val="282829"/>
                </a:solidFill>
                <a:effectLst/>
                <a:latin typeface="-apple-system"/>
              </a:rPr>
              <a:t> </a:t>
            </a:r>
            <a:r>
              <a:rPr lang="en-US" sz="3000" b="0" i="0" dirty="0" err="1">
                <a:solidFill>
                  <a:srgbClr val="282829"/>
                </a:solidFill>
                <a:effectLst/>
                <a:latin typeface="-apple-system"/>
              </a:rPr>
              <a:t>namun</a:t>
            </a:r>
            <a:r>
              <a:rPr lang="en-US" sz="3000" b="0" i="0" dirty="0">
                <a:solidFill>
                  <a:srgbClr val="282829"/>
                </a:solidFill>
                <a:effectLst/>
                <a:latin typeface="-apple-system"/>
              </a:rPr>
              <a:t> </a:t>
            </a:r>
            <a:r>
              <a:rPr lang="en-US" sz="3000" b="0" i="0" dirty="0" err="1">
                <a:solidFill>
                  <a:srgbClr val="282829"/>
                </a:solidFill>
                <a:effectLst/>
                <a:latin typeface="-apple-system"/>
              </a:rPr>
              <a:t>memiliki</a:t>
            </a:r>
            <a:r>
              <a:rPr lang="en-US" sz="3000" b="0" i="0" dirty="0">
                <a:solidFill>
                  <a:srgbClr val="282829"/>
                </a:solidFill>
                <a:effectLst/>
                <a:latin typeface="-apple-system"/>
              </a:rPr>
              <a:t> parameter </a:t>
            </a:r>
            <a:r>
              <a:rPr lang="en-US" sz="3000" b="0" i="0" dirty="0" err="1">
                <a:solidFill>
                  <a:srgbClr val="282829"/>
                </a:solidFill>
                <a:effectLst/>
                <a:latin typeface="-apple-system"/>
              </a:rPr>
              <a:t>berbeda</a:t>
            </a:r>
            <a:r>
              <a:rPr lang="en-US" sz="3000" b="0" i="0" dirty="0">
                <a:solidFill>
                  <a:srgbClr val="282829"/>
                </a:solidFill>
                <a:effectLst/>
                <a:latin typeface="-apple-system"/>
              </a:rPr>
              <a:t> dan (</a:t>
            </a:r>
            <a:r>
              <a:rPr lang="en-US" sz="3000" b="0" i="0" dirty="0" err="1">
                <a:solidFill>
                  <a:srgbClr val="282829"/>
                </a:solidFill>
                <a:effectLst/>
                <a:latin typeface="-apple-system"/>
              </a:rPr>
              <a:t>mungkin</a:t>
            </a:r>
            <a:r>
              <a:rPr lang="en-US" sz="3000" b="0" i="0" dirty="0">
                <a:solidFill>
                  <a:srgbClr val="282829"/>
                </a:solidFill>
                <a:effectLst/>
                <a:latin typeface="-apple-system"/>
              </a:rPr>
              <a:t>) </a:t>
            </a:r>
            <a:r>
              <a:rPr lang="en-US" sz="3000" b="0" i="0" dirty="0" err="1">
                <a:solidFill>
                  <a:srgbClr val="282829"/>
                </a:solidFill>
                <a:effectLst/>
                <a:latin typeface="-apple-system"/>
              </a:rPr>
              <a:t>menjalankan</a:t>
            </a:r>
            <a:r>
              <a:rPr lang="en-US" sz="3000" b="0" i="0" dirty="0">
                <a:solidFill>
                  <a:srgbClr val="282829"/>
                </a:solidFill>
                <a:effectLst/>
                <a:latin typeface="-apple-system"/>
              </a:rPr>
              <a:t> </a:t>
            </a:r>
            <a:r>
              <a:rPr lang="en-US" sz="3000" b="0" i="0" dirty="0" err="1">
                <a:solidFill>
                  <a:srgbClr val="282829"/>
                </a:solidFill>
                <a:effectLst/>
                <a:latin typeface="-apple-system"/>
              </a:rPr>
              <a:t>perintah</a:t>
            </a:r>
            <a:r>
              <a:rPr lang="en-US" sz="3000" b="0" i="0" dirty="0">
                <a:solidFill>
                  <a:srgbClr val="282829"/>
                </a:solidFill>
                <a:effectLst/>
                <a:latin typeface="-apple-system"/>
              </a:rPr>
              <a:t> yang </a:t>
            </a:r>
            <a:r>
              <a:rPr lang="en-US" sz="3000" b="0" i="0" dirty="0" err="1">
                <a:solidFill>
                  <a:srgbClr val="282829"/>
                </a:solidFill>
                <a:effectLst/>
                <a:latin typeface="-apple-system"/>
              </a:rPr>
              <a:t>berbeda</a:t>
            </a:r>
            <a:r>
              <a:rPr lang="en-US" sz="3000" b="0" i="0" dirty="0">
                <a:solidFill>
                  <a:srgbClr val="282829"/>
                </a:solidFill>
                <a:effectLst/>
                <a:latin typeface="-apple-system"/>
              </a:rPr>
              <a:t> pula. </a:t>
            </a:r>
            <a:r>
              <a:rPr lang="en-US" sz="3000" b="0" i="0" dirty="0" err="1">
                <a:solidFill>
                  <a:srgbClr val="282829"/>
                </a:solidFill>
                <a:effectLst/>
                <a:latin typeface="-apple-system"/>
              </a:rPr>
              <a:t>Perbedaan</a:t>
            </a:r>
            <a:r>
              <a:rPr lang="en-US" sz="3000" b="0" i="0" dirty="0">
                <a:solidFill>
                  <a:srgbClr val="282829"/>
                </a:solidFill>
                <a:effectLst/>
                <a:latin typeface="-apple-system"/>
              </a:rPr>
              <a:t> parameter yang </a:t>
            </a:r>
            <a:r>
              <a:rPr lang="en-US" sz="3000" b="0" i="0" dirty="0" err="1">
                <a:solidFill>
                  <a:srgbClr val="282829"/>
                </a:solidFill>
                <a:effectLst/>
                <a:latin typeface="-apple-system"/>
              </a:rPr>
              <a:t>dimaksud</a:t>
            </a:r>
            <a:r>
              <a:rPr lang="en-US" sz="3000" b="0" i="0" dirty="0">
                <a:solidFill>
                  <a:srgbClr val="282829"/>
                </a:solidFill>
                <a:effectLst/>
                <a:latin typeface="-apple-system"/>
              </a:rPr>
              <a:t> </a:t>
            </a:r>
            <a:r>
              <a:rPr lang="en-US" sz="3000" b="0" i="0" dirty="0" err="1">
                <a:solidFill>
                  <a:srgbClr val="282829"/>
                </a:solidFill>
                <a:effectLst/>
                <a:latin typeface="-apple-system"/>
              </a:rPr>
              <a:t>dibagi</a:t>
            </a:r>
            <a:r>
              <a:rPr lang="en-US" sz="3000" b="0" i="0" dirty="0">
                <a:solidFill>
                  <a:srgbClr val="282829"/>
                </a:solidFill>
                <a:effectLst/>
                <a:latin typeface="-apple-system"/>
              </a:rPr>
              <a:t> </a:t>
            </a:r>
            <a:r>
              <a:rPr lang="en-US" sz="3000" b="0" i="0" dirty="0" err="1">
                <a:solidFill>
                  <a:srgbClr val="282829"/>
                </a:solidFill>
                <a:effectLst/>
                <a:latin typeface="-apple-system"/>
              </a:rPr>
              <a:t>menjadi</a:t>
            </a:r>
            <a:r>
              <a:rPr lang="en-US" sz="3000" b="0" i="0" dirty="0">
                <a:solidFill>
                  <a:srgbClr val="282829"/>
                </a:solidFill>
                <a:effectLst/>
                <a:latin typeface="-apple-system"/>
              </a:rPr>
              <a:t> </a:t>
            </a:r>
            <a:r>
              <a:rPr lang="en-US" sz="3000" b="0" i="0" dirty="0" err="1">
                <a:solidFill>
                  <a:srgbClr val="282829"/>
                </a:solidFill>
                <a:effectLst/>
                <a:latin typeface="-apple-system"/>
              </a:rPr>
              <a:t>tiga</a:t>
            </a:r>
            <a:r>
              <a:rPr lang="en-US" sz="3000" b="0" i="0" dirty="0">
                <a:solidFill>
                  <a:srgbClr val="282829"/>
                </a:solidFill>
                <a:effectLst/>
                <a:latin typeface="-apple-system"/>
              </a:rPr>
              <a:t> </a:t>
            </a:r>
            <a:r>
              <a:rPr lang="en-US" sz="3000" b="0" i="0" dirty="0" err="1">
                <a:solidFill>
                  <a:srgbClr val="282829"/>
                </a:solidFill>
                <a:effectLst/>
                <a:latin typeface="-apple-system"/>
              </a:rPr>
              <a:t>yaitu</a:t>
            </a:r>
            <a:r>
              <a:rPr lang="en-US" sz="3000" b="0" i="0" dirty="0">
                <a:solidFill>
                  <a:srgbClr val="282829"/>
                </a:solidFill>
                <a:effectLst/>
                <a:latin typeface="-apple-system"/>
              </a:rPr>
              <a:t>:</a:t>
            </a:r>
            <a:endParaRPr lang="en-US" sz="3000" dirty="0"/>
          </a:p>
        </p:txBody>
      </p:sp>
      <p:sp>
        <p:nvSpPr>
          <p:cNvPr id="4" name="Subtitle 2">
            <a:extLst>
              <a:ext uri="{FF2B5EF4-FFF2-40B4-BE49-F238E27FC236}">
                <a16:creationId xmlns:a16="http://schemas.microsoft.com/office/drawing/2014/main" id="{2DB56251-15F8-4450-8BD5-DBF56A5CCD18}"/>
              </a:ext>
            </a:extLst>
          </p:cNvPr>
          <p:cNvSpPr txBox="1">
            <a:spLocks/>
          </p:cNvSpPr>
          <p:nvPr/>
        </p:nvSpPr>
        <p:spPr>
          <a:xfrm>
            <a:off x="332509" y="5153891"/>
            <a:ext cx="6400800" cy="17526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514350" indent="-514350" algn="just">
              <a:buAutoNum type="arabicPeriod"/>
            </a:pPr>
            <a:r>
              <a:rPr lang="en-US" dirty="0" err="1">
                <a:solidFill>
                  <a:schemeClr val="tx1"/>
                </a:solidFill>
              </a:rPr>
              <a:t>Perbedaan</a:t>
            </a:r>
            <a:r>
              <a:rPr lang="en-US" dirty="0">
                <a:solidFill>
                  <a:schemeClr val="tx1"/>
                </a:solidFill>
              </a:rPr>
              <a:t> </a:t>
            </a:r>
            <a:r>
              <a:rPr lang="en-US" dirty="0" err="1">
                <a:solidFill>
                  <a:schemeClr val="tx1"/>
                </a:solidFill>
              </a:rPr>
              <a:t>tipe</a:t>
            </a:r>
            <a:r>
              <a:rPr lang="en-US" dirty="0">
                <a:solidFill>
                  <a:schemeClr val="tx1"/>
                </a:solidFill>
              </a:rPr>
              <a:t> data</a:t>
            </a:r>
          </a:p>
          <a:p>
            <a:pPr marL="514350" indent="-514350" algn="just">
              <a:buAutoNum type="arabicPeriod"/>
            </a:pPr>
            <a:r>
              <a:rPr lang="en-US" dirty="0" err="1">
                <a:solidFill>
                  <a:schemeClr val="tx1"/>
                </a:solidFill>
              </a:rPr>
              <a:t>Perbedaan</a:t>
            </a:r>
            <a:r>
              <a:rPr lang="en-US" dirty="0">
                <a:solidFill>
                  <a:schemeClr val="tx1"/>
                </a:solidFill>
              </a:rPr>
              <a:t> </a:t>
            </a:r>
            <a:r>
              <a:rPr lang="en-US" dirty="0" err="1">
                <a:solidFill>
                  <a:schemeClr val="tx1"/>
                </a:solidFill>
              </a:rPr>
              <a:t>letak</a:t>
            </a:r>
            <a:r>
              <a:rPr lang="en-US" dirty="0">
                <a:solidFill>
                  <a:schemeClr val="tx1"/>
                </a:solidFill>
              </a:rPr>
              <a:t> </a:t>
            </a:r>
            <a:r>
              <a:rPr lang="en-US" dirty="0" err="1">
                <a:solidFill>
                  <a:schemeClr val="tx1"/>
                </a:solidFill>
              </a:rPr>
              <a:t>atau</a:t>
            </a:r>
            <a:r>
              <a:rPr lang="en-US" dirty="0">
                <a:solidFill>
                  <a:schemeClr val="tx1"/>
                </a:solidFill>
              </a:rPr>
              <a:t> </a:t>
            </a:r>
            <a:r>
              <a:rPr lang="en-US" dirty="0" err="1">
                <a:solidFill>
                  <a:schemeClr val="tx1"/>
                </a:solidFill>
              </a:rPr>
              <a:t>urutan</a:t>
            </a:r>
            <a:endParaRPr lang="en-US" dirty="0">
              <a:solidFill>
                <a:schemeClr val="tx1"/>
              </a:solidFill>
            </a:endParaRPr>
          </a:p>
          <a:p>
            <a:pPr marL="514350" indent="-514350" algn="just">
              <a:buAutoNum type="arabicPeriod"/>
            </a:pPr>
            <a:r>
              <a:rPr lang="en-US" dirty="0" err="1">
                <a:solidFill>
                  <a:schemeClr val="tx1"/>
                </a:solidFill>
              </a:rPr>
              <a:t>Perbedaan</a:t>
            </a:r>
            <a:r>
              <a:rPr lang="en-US" dirty="0">
                <a:solidFill>
                  <a:schemeClr val="tx1"/>
                </a:solidFill>
              </a:rPr>
              <a:t> </a:t>
            </a:r>
            <a:r>
              <a:rPr lang="en-US" dirty="0" err="1">
                <a:solidFill>
                  <a:schemeClr val="tx1"/>
                </a:solidFill>
              </a:rPr>
              <a:t>jumlah</a:t>
            </a:r>
            <a:r>
              <a:rPr lang="en-US" dirty="0">
                <a:solidFill>
                  <a:schemeClr val="tx1"/>
                </a:solidFill>
              </a:rPr>
              <a:t> parameter</a:t>
            </a:r>
          </a:p>
        </p:txBody>
      </p:sp>
      <p:sp>
        <p:nvSpPr>
          <p:cNvPr id="6" name="Title 1">
            <a:extLst>
              <a:ext uri="{FF2B5EF4-FFF2-40B4-BE49-F238E27FC236}">
                <a16:creationId xmlns:a16="http://schemas.microsoft.com/office/drawing/2014/main" id="{58B479ED-4836-4DC7-9B46-D852CC81E80D}"/>
              </a:ext>
            </a:extLst>
          </p:cNvPr>
          <p:cNvSpPr txBox="1">
            <a:spLocks/>
          </p:cNvSpPr>
          <p:nvPr/>
        </p:nvSpPr>
        <p:spPr>
          <a:xfrm>
            <a:off x="9469584" y="385579"/>
            <a:ext cx="7772400" cy="82752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OVERRIDING</a:t>
            </a:r>
          </a:p>
        </p:txBody>
      </p:sp>
      <p:sp>
        <p:nvSpPr>
          <p:cNvPr id="7" name="Subtitle 2">
            <a:extLst>
              <a:ext uri="{FF2B5EF4-FFF2-40B4-BE49-F238E27FC236}">
                <a16:creationId xmlns:a16="http://schemas.microsoft.com/office/drawing/2014/main" id="{F4283085-0536-46EE-BAFE-638D440CF1C1}"/>
              </a:ext>
            </a:extLst>
          </p:cNvPr>
          <p:cNvSpPr txBox="1">
            <a:spLocks/>
          </p:cNvSpPr>
          <p:nvPr/>
        </p:nvSpPr>
        <p:spPr>
          <a:xfrm>
            <a:off x="10439400" y="1502353"/>
            <a:ext cx="6400800" cy="17526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3000" b="1" i="1" dirty="0">
                <a:solidFill>
                  <a:srgbClr val="282829"/>
                </a:solidFill>
                <a:latin typeface="-apple-system"/>
              </a:rPr>
              <a:t>OVERRIDING </a:t>
            </a:r>
            <a:r>
              <a:rPr lang="en-US" sz="3000" b="0" i="0" dirty="0">
                <a:solidFill>
                  <a:srgbClr val="282829"/>
                </a:solidFill>
                <a:effectLst/>
                <a:latin typeface="-apple-system"/>
              </a:rPr>
              <a:t>ADALAH MERUPAKAN SEBUAH PERINTAH UNTUK MERUBAH METHODE YANG ADA PADA PARENT CLASS DI CHILD CLASS.</a:t>
            </a:r>
            <a:endParaRPr lang="en-US" sz="3000" dirty="0"/>
          </a:p>
        </p:txBody>
      </p:sp>
    </p:spTree>
    <p:extLst>
      <p:ext uri="{BB962C8B-B14F-4D97-AF65-F5344CB8AC3E}">
        <p14:creationId xmlns:p14="http://schemas.microsoft.com/office/powerpoint/2010/main" val="3998292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38878-B7CC-4C53-B946-6A800B35F9D4}"/>
              </a:ext>
            </a:extLst>
          </p:cNvPr>
          <p:cNvSpPr>
            <a:spLocks noGrp="1"/>
          </p:cNvSpPr>
          <p:nvPr>
            <p:ph type="title"/>
          </p:nvPr>
        </p:nvSpPr>
        <p:spPr/>
        <p:txBody>
          <a:bodyPr>
            <a:normAutofit/>
          </a:bodyPr>
          <a:lstStyle/>
          <a:p>
            <a:r>
              <a:rPr lang="en-US" sz="3300" dirty="0"/>
              <a:t>Attributes </a:t>
            </a:r>
            <a:r>
              <a:rPr lang="en-US" sz="3300" dirty="0" err="1"/>
              <a:t>merupakan</a:t>
            </a:r>
            <a:r>
              <a:rPr lang="en-US" sz="3300" dirty="0"/>
              <a:t> </a:t>
            </a:r>
            <a:r>
              <a:rPr lang="en-US" sz="3300" dirty="0" err="1"/>
              <a:t>nilai</a:t>
            </a:r>
            <a:r>
              <a:rPr lang="en-US" sz="3300" dirty="0"/>
              <a:t> data yang </a:t>
            </a:r>
            <a:r>
              <a:rPr lang="en-US" sz="3300" dirty="0" err="1"/>
              <a:t>terdapat</a:t>
            </a:r>
            <a:r>
              <a:rPr lang="en-US" sz="3300" dirty="0"/>
              <a:t> pada </a:t>
            </a:r>
            <a:r>
              <a:rPr lang="en-US" sz="3300" dirty="0" err="1"/>
              <a:t>suatu</a:t>
            </a:r>
            <a:r>
              <a:rPr lang="en-US" sz="3300" dirty="0"/>
              <a:t> object yang </a:t>
            </a:r>
            <a:r>
              <a:rPr lang="en-US" sz="3300" dirty="0" err="1"/>
              <a:t>berasal</a:t>
            </a:r>
            <a:r>
              <a:rPr lang="en-US" sz="3300" dirty="0"/>
              <a:t> </a:t>
            </a:r>
            <a:r>
              <a:rPr lang="en-US" sz="3300" dirty="0" err="1"/>
              <a:t>dari</a:t>
            </a:r>
            <a:r>
              <a:rPr lang="en-US" sz="3300" dirty="0"/>
              <a:t> class. Attributes </a:t>
            </a:r>
            <a:r>
              <a:rPr lang="en-US" sz="3300" dirty="0" err="1"/>
              <a:t>merepresentasikan</a:t>
            </a:r>
            <a:r>
              <a:rPr lang="en-US" sz="3300" dirty="0"/>
              <a:t> </a:t>
            </a:r>
            <a:r>
              <a:rPr lang="en-US" sz="3300" dirty="0" err="1"/>
              <a:t>karakteristik</a:t>
            </a:r>
            <a:r>
              <a:rPr lang="en-US" sz="3300" dirty="0"/>
              <a:t> </a:t>
            </a:r>
            <a:r>
              <a:rPr lang="en-US" sz="3300" dirty="0" err="1"/>
              <a:t>dari</a:t>
            </a:r>
            <a:r>
              <a:rPr lang="en-US" sz="3300" dirty="0"/>
              <a:t> </a:t>
            </a:r>
            <a:r>
              <a:rPr lang="en-US" sz="3300" dirty="0" err="1"/>
              <a:t>suatu</a:t>
            </a:r>
            <a:r>
              <a:rPr lang="en-US" sz="3300" dirty="0"/>
              <a:t> object. </a:t>
            </a:r>
            <a:r>
              <a:rPr lang="en-US" sz="3300" dirty="0" err="1"/>
              <a:t>Atau</a:t>
            </a:r>
            <a:r>
              <a:rPr lang="en-US" sz="3300" dirty="0"/>
              <a:t> </a:t>
            </a:r>
            <a:r>
              <a:rPr lang="en-US" sz="3300" dirty="0" err="1"/>
              <a:t>Atribut</a:t>
            </a:r>
            <a:r>
              <a:rPr lang="en-US" sz="3300" dirty="0"/>
              <a:t> </a:t>
            </a:r>
            <a:r>
              <a:rPr lang="en-US" sz="3300" dirty="0" err="1"/>
              <a:t>adalah</a:t>
            </a:r>
            <a:r>
              <a:rPr lang="en-US" sz="3300" dirty="0"/>
              <a:t> </a:t>
            </a:r>
            <a:r>
              <a:rPr lang="en-US" sz="3300" dirty="0" err="1"/>
              <a:t>sesuatu</a:t>
            </a:r>
            <a:r>
              <a:rPr lang="en-US" sz="3300" dirty="0"/>
              <a:t> yang </a:t>
            </a:r>
            <a:r>
              <a:rPr lang="en-US" sz="3300" dirty="0" err="1"/>
              <a:t>dimiliki</a:t>
            </a:r>
            <a:r>
              <a:rPr lang="en-US" sz="3300" dirty="0"/>
              <a:t> oleh </a:t>
            </a:r>
            <a:r>
              <a:rPr lang="en-US" sz="3300" dirty="0" err="1"/>
              <a:t>objek</a:t>
            </a:r>
            <a:r>
              <a:rPr lang="en-US" sz="3300" dirty="0"/>
              <a:t>. </a:t>
            </a:r>
            <a:r>
              <a:rPr lang="en-US" sz="3300" dirty="0" err="1"/>
              <a:t>Setiap</a:t>
            </a:r>
            <a:r>
              <a:rPr lang="en-US" sz="3300" dirty="0"/>
              <a:t> </a:t>
            </a:r>
            <a:r>
              <a:rPr lang="en-US" sz="3300" dirty="0" err="1"/>
              <a:t>objek</a:t>
            </a:r>
            <a:r>
              <a:rPr lang="en-US" sz="3300" dirty="0"/>
              <a:t> yang </a:t>
            </a:r>
            <a:r>
              <a:rPr lang="en-US" sz="3300" dirty="0" err="1"/>
              <a:t>dibuat</a:t>
            </a:r>
            <a:r>
              <a:rPr lang="en-US" sz="3300" dirty="0"/>
              <a:t> </a:t>
            </a:r>
            <a:r>
              <a:rPr lang="en-US" sz="3300" dirty="0" err="1"/>
              <a:t>dari</a:t>
            </a:r>
            <a:r>
              <a:rPr lang="en-US" sz="3300" dirty="0"/>
              <a:t> </a:t>
            </a:r>
            <a:r>
              <a:rPr lang="en-US" sz="3300" dirty="0" err="1"/>
              <a:t>kelas</a:t>
            </a:r>
            <a:r>
              <a:rPr lang="en-US" sz="3300" dirty="0"/>
              <a:t> yang </a:t>
            </a:r>
            <a:r>
              <a:rPr lang="en-US" sz="3300" dirty="0" err="1"/>
              <a:t>sama</a:t>
            </a:r>
            <a:r>
              <a:rPr lang="en-US" sz="3300" dirty="0"/>
              <a:t> </a:t>
            </a:r>
            <a:r>
              <a:rPr lang="en-US" sz="3300" dirty="0" err="1"/>
              <a:t>akan</a:t>
            </a:r>
            <a:r>
              <a:rPr lang="en-US" sz="3300" dirty="0"/>
              <a:t> </a:t>
            </a:r>
            <a:r>
              <a:rPr lang="en-US" sz="3300" dirty="0" err="1"/>
              <a:t>memiliki</a:t>
            </a:r>
            <a:r>
              <a:rPr lang="en-US" sz="3300" dirty="0"/>
              <a:t> </a:t>
            </a:r>
            <a:r>
              <a:rPr lang="en-US" sz="3300" dirty="0" err="1"/>
              <a:t>atribut</a:t>
            </a:r>
            <a:r>
              <a:rPr lang="en-US" sz="3300" dirty="0"/>
              <a:t> yang </a:t>
            </a:r>
            <a:r>
              <a:rPr lang="en-US" sz="3300" dirty="0" err="1"/>
              <a:t>sama</a:t>
            </a:r>
            <a:r>
              <a:rPr lang="en-US" sz="3300" dirty="0"/>
              <a:t>. </a:t>
            </a:r>
          </a:p>
        </p:txBody>
      </p:sp>
      <p:sp>
        <p:nvSpPr>
          <p:cNvPr id="3" name="Text Placeholder 2">
            <a:extLst>
              <a:ext uri="{FF2B5EF4-FFF2-40B4-BE49-F238E27FC236}">
                <a16:creationId xmlns:a16="http://schemas.microsoft.com/office/drawing/2014/main" id="{13E30BA8-7A23-4646-BF81-F0BFA082DE11}"/>
              </a:ext>
            </a:extLst>
          </p:cNvPr>
          <p:cNvSpPr>
            <a:spLocks noGrp="1"/>
          </p:cNvSpPr>
          <p:nvPr>
            <p:ph type="body" idx="1"/>
          </p:nvPr>
        </p:nvSpPr>
        <p:spPr>
          <a:xfrm>
            <a:off x="1981200" y="876300"/>
            <a:ext cx="12945669" cy="1519394"/>
          </a:xfrm>
        </p:spPr>
        <p:txBody>
          <a:bodyPr>
            <a:normAutofit/>
          </a:bodyPr>
          <a:lstStyle/>
          <a:p>
            <a:r>
              <a:rPr lang="en-US" sz="5500" dirty="0"/>
              <a:t>ATTRIBUTE</a:t>
            </a:r>
          </a:p>
        </p:txBody>
      </p:sp>
    </p:spTree>
    <p:extLst>
      <p:ext uri="{BB962C8B-B14F-4D97-AF65-F5344CB8AC3E}">
        <p14:creationId xmlns:p14="http://schemas.microsoft.com/office/powerpoint/2010/main" val="2516813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D1B2-F013-4976-B681-24D138D34B4D}"/>
              </a:ext>
            </a:extLst>
          </p:cNvPr>
          <p:cNvSpPr>
            <a:spLocks noGrp="1"/>
          </p:cNvSpPr>
          <p:nvPr>
            <p:ph type="ctrTitle"/>
          </p:nvPr>
        </p:nvSpPr>
        <p:spPr>
          <a:xfrm>
            <a:off x="838200" y="190500"/>
            <a:ext cx="12955610" cy="1254335"/>
          </a:xfrm>
        </p:spPr>
        <p:txBody>
          <a:bodyPr>
            <a:normAutofit/>
          </a:bodyPr>
          <a:lstStyle/>
          <a:p>
            <a:r>
              <a:rPr lang="en-US" sz="4400" dirty="0"/>
              <a:t>Static Method</a:t>
            </a:r>
          </a:p>
        </p:txBody>
      </p:sp>
      <p:sp>
        <p:nvSpPr>
          <p:cNvPr id="3" name="Subtitle 2">
            <a:extLst>
              <a:ext uri="{FF2B5EF4-FFF2-40B4-BE49-F238E27FC236}">
                <a16:creationId xmlns:a16="http://schemas.microsoft.com/office/drawing/2014/main" id="{26B508C7-8E76-42E1-9CD7-493F62B58B75}"/>
              </a:ext>
            </a:extLst>
          </p:cNvPr>
          <p:cNvSpPr>
            <a:spLocks noGrp="1"/>
          </p:cNvSpPr>
          <p:nvPr>
            <p:ph type="subTitle" idx="1"/>
          </p:nvPr>
        </p:nvSpPr>
        <p:spPr>
          <a:xfrm>
            <a:off x="823332" y="1790700"/>
            <a:ext cx="6949068" cy="4800600"/>
          </a:xfrm>
        </p:spPr>
        <p:txBody>
          <a:bodyPr>
            <a:normAutofit/>
          </a:bodyPr>
          <a:lstStyle/>
          <a:p>
            <a:pPr>
              <a:lnSpc>
                <a:spcPct val="100000"/>
              </a:lnSpc>
            </a:pPr>
            <a:r>
              <a:rPr lang="en-US" dirty="0">
                <a:solidFill>
                  <a:schemeClr val="tx1"/>
                </a:solidFill>
              </a:rPr>
              <a:t>Method static </a:t>
            </a:r>
            <a:r>
              <a:rPr lang="en-US" dirty="0" err="1">
                <a:solidFill>
                  <a:schemeClr val="tx1"/>
                </a:solidFill>
              </a:rPr>
              <a:t>adalah</a:t>
            </a:r>
            <a:r>
              <a:rPr lang="en-US" dirty="0">
                <a:solidFill>
                  <a:schemeClr val="tx1"/>
                </a:solidFill>
              </a:rPr>
              <a:t> method yang </a:t>
            </a:r>
            <a:r>
              <a:rPr lang="en-US" dirty="0" err="1">
                <a:solidFill>
                  <a:schemeClr val="tx1"/>
                </a:solidFill>
              </a:rPr>
              <a:t>dapat</a:t>
            </a:r>
            <a:r>
              <a:rPr lang="en-US" dirty="0">
                <a:solidFill>
                  <a:schemeClr val="tx1"/>
                </a:solidFill>
              </a:rPr>
              <a:t> </a:t>
            </a:r>
            <a:r>
              <a:rPr lang="en-US" dirty="0" err="1">
                <a:solidFill>
                  <a:schemeClr val="tx1"/>
                </a:solidFill>
              </a:rPr>
              <a:t>digunakan</a:t>
            </a:r>
            <a:r>
              <a:rPr lang="en-US" dirty="0">
                <a:solidFill>
                  <a:schemeClr val="tx1"/>
                </a:solidFill>
              </a:rPr>
              <a:t> </a:t>
            </a:r>
            <a:r>
              <a:rPr lang="en-US" dirty="0" err="1">
                <a:solidFill>
                  <a:schemeClr val="tx1"/>
                </a:solidFill>
              </a:rPr>
              <a:t>tanpa</a:t>
            </a:r>
            <a:r>
              <a:rPr lang="en-US" dirty="0">
                <a:solidFill>
                  <a:schemeClr val="tx1"/>
                </a:solidFill>
              </a:rPr>
              <a:t> </a:t>
            </a:r>
            <a:r>
              <a:rPr lang="en-US" dirty="0" err="1">
                <a:solidFill>
                  <a:schemeClr val="tx1"/>
                </a:solidFill>
              </a:rPr>
              <a:t>harus</a:t>
            </a:r>
            <a:r>
              <a:rPr lang="en-US" dirty="0">
                <a:solidFill>
                  <a:schemeClr val="tx1"/>
                </a:solidFill>
              </a:rPr>
              <a:t> </a:t>
            </a:r>
            <a:r>
              <a:rPr lang="en-US" dirty="0" err="1">
                <a:solidFill>
                  <a:schemeClr val="tx1"/>
                </a:solidFill>
              </a:rPr>
              <a:t>membuat</a:t>
            </a:r>
            <a:r>
              <a:rPr lang="en-US" dirty="0">
                <a:solidFill>
                  <a:schemeClr val="tx1"/>
                </a:solidFill>
              </a:rPr>
              <a:t> </a:t>
            </a:r>
            <a:r>
              <a:rPr lang="en-US" dirty="0" err="1">
                <a:solidFill>
                  <a:schemeClr val="tx1"/>
                </a:solidFill>
              </a:rPr>
              <a:t>objek</a:t>
            </a:r>
            <a:r>
              <a:rPr lang="en-US" dirty="0">
                <a:solidFill>
                  <a:schemeClr val="tx1"/>
                </a:solidFill>
              </a:rPr>
              <a:t> </a:t>
            </a:r>
            <a:r>
              <a:rPr lang="en-US" dirty="0" err="1">
                <a:solidFill>
                  <a:schemeClr val="tx1"/>
                </a:solidFill>
              </a:rPr>
              <a:t>dari</a:t>
            </a:r>
            <a:r>
              <a:rPr lang="en-US" dirty="0">
                <a:solidFill>
                  <a:schemeClr val="tx1"/>
                </a:solidFill>
              </a:rPr>
              <a:t> class.</a:t>
            </a:r>
            <a:br>
              <a:rPr lang="en-US" dirty="0">
                <a:solidFill>
                  <a:schemeClr val="tx1"/>
                </a:solidFill>
              </a:rPr>
            </a:br>
            <a:r>
              <a:rPr lang="en-US" dirty="0">
                <a:solidFill>
                  <a:schemeClr val="tx1"/>
                </a:solidFill>
              </a:rPr>
              <a:t>Jadi, </a:t>
            </a:r>
            <a:r>
              <a:rPr lang="en-US" dirty="0" err="1">
                <a:solidFill>
                  <a:schemeClr val="tx1"/>
                </a:solidFill>
              </a:rPr>
              <a:t>jika</a:t>
            </a:r>
            <a:r>
              <a:rPr lang="en-US" dirty="0">
                <a:solidFill>
                  <a:schemeClr val="tx1"/>
                </a:solidFill>
              </a:rPr>
              <a:t> </a:t>
            </a:r>
            <a:r>
              <a:rPr lang="en-US" dirty="0" err="1">
                <a:solidFill>
                  <a:schemeClr val="tx1"/>
                </a:solidFill>
              </a:rPr>
              <a:t>anda</a:t>
            </a:r>
            <a:r>
              <a:rPr lang="en-US" dirty="0">
                <a:solidFill>
                  <a:schemeClr val="tx1"/>
                </a:solidFill>
              </a:rPr>
              <a:t> </a:t>
            </a:r>
            <a:r>
              <a:rPr lang="en-US" dirty="0" err="1">
                <a:solidFill>
                  <a:schemeClr val="tx1"/>
                </a:solidFill>
              </a:rPr>
              <a:t>menginginkan</a:t>
            </a:r>
            <a:r>
              <a:rPr lang="en-US" dirty="0">
                <a:solidFill>
                  <a:schemeClr val="tx1"/>
                </a:solidFill>
              </a:rPr>
              <a:t> </a:t>
            </a:r>
            <a:r>
              <a:rPr lang="en-US" dirty="0" err="1">
                <a:solidFill>
                  <a:schemeClr val="tx1"/>
                </a:solidFill>
              </a:rPr>
              <a:t>semua</a:t>
            </a:r>
            <a:r>
              <a:rPr lang="en-US" dirty="0">
                <a:solidFill>
                  <a:schemeClr val="tx1"/>
                </a:solidFill>
              </a:rPr>
              <a:t> </a:t>
            </a:r>
            <a:r>
              <a:rPr lang="en-US" dirty="0" err="1">
                <a:solidFill>
                  <a:schemeClr val="tx1"/>
                </a:solidFill>
                <a:hlinkClick r:id="rId2">
                  <a:extLst>
                    <a:ext uri="{A12FA001-AC4F-418D-AE19-62706E023703}">
                      <ahyp:hlinkClr xmlns:ahyp="http://schemas.microsoft.com/office/drawing/2018/hyperlinkcolor" val="tx"/>
                    </a:ext>
                  </a:extLst>
                </a:hlinkClick>
              </a:rPr>
              <a:t>objek</a:t>
            </a:r>
            <a:r>
              <a:rPr lang="en-US" dirty="0">
                <a:solidFill>
                  <a:schemeClr val="tx1"/>
                </a:solidFill>
              </a:rPr>
              <a:t> </a:t>
            </a:r>
            <a:r>
              <a:rPr lang="en-US" dirty="0" err="1">
                <a:solidFill>
                  <a:schemeClr val="tx1"/>
                </a:solidFill>
              </a:rPr>
              <a:t>dari</a:t>
            </a:r>
            <a:r>
              <a:rPr lang="en-US" dirty="0">
                <a:solidFill>
                  <a:schemeClr val="tx1"/>
                </a:solidFill>
              </a:rPr>
              <a:t> class </a:t>
            </a:r>
            <a:r>
              <a:rPr lang="en-US" dirty="0" err="1">
                <a:solidFill>
                  <a:schemeClr val="tx1"/>
                </a:solidFill>
              </a:rPr>
              <a:t>untuk</a:t>
            </a:r>
            <a:r>
              <a:rPr lang="en-US" dirty="0">
                <a:solidFill>
                  <a:schemeClr val="tx1"/>
                </a:solidFill>
              </a:rPr>
              <a:t> </a:t>
            </a:r>
            <a:r>
              <a:rPr lang="en-US" dirty="0" err="1">
                <a:solidFill>
                  <a:schemeClr val="tx1"/>
                </a:solidFill>
              </a:rPr>
              <a:t>berbagi</a:t>
            </a:r>
            <a:r>
              <a:rPr lang="en-US" dirty="0">
                <a:solidFill>
                  <a:schemeClr val="tx1"/>
                </a:solidFill>
              </a:rPr>
              <a:t> data, </a:t>
            </a:r>
            <a:r>
              <a:rPr lang="en-US" dirty="0" err="1">
                <a:solidFill>
                  <a:schemeClr val="tx1"/>
                </a:solidFill>
              </a:rPr>
              <a:t>maka</a:t>
            </a:r>
            <a:r>
              <a:rPr lang="en-US" dirty="0">
                <a:solidFill>
                  <a:schemeClr val="tx1"/>
                </a:solidFill>
              </a:rPr>
              <a:t> </a:t>
            </a:r>
            <a:r>
              <a:rPr lang="en-US" dirty="0" err="1">
                <a:solidFill>
                  <a:schemeClr val="tx1"/>
                </a:solidFill>
              </a:rPr>
              <a:t>gunakanlah</a:t>
            </a:r>
            <a:r>
              <a:rPr lang="en-US" dirty="0">
                <a:solidFill>
                  <a:schemeClr val="tx1"/>
                </a:solidFill>
              </a:rPr>
              <a:t> </a:t>
            </a:r>
            <a:r>
              <a:rPr lang="en-US" dirty="0" err="1">
                <a:solidFill>
                  <a:schemeClr val="tx1"/>
                </a:solidFill>
              </a:rPr>
              <a:t>variabel</a:t>
            </a:r>
            <a:r>
              <a:rPr lang="en-US" dirty="0">
                <a:solidFill>
                  <a:schemeClr val="tx1"/>
                </a:solidFill>
              </a:rPr>
              <a:t> static, yang juga </a:t>
            </a:r>
            <a:r>
              <a:rPr lang="en-US" dirty="0" err="1">
                <a:solidFill>
                  <a:schemeClr val="tx1"/>
                </a:solidFill>
              </a:rPr>
              <a:t>dikenal</a:t>
            </a:r>
            <a:r>
              <a:rPr lang="en-US" dirty="0">
                <a:solidFill>
                  <a:schemeClr val="tx1"/>
                </a:solidFill>
              </a:rPr>
              <a:t> </a:t>
            </a:r>
            <a:r>
              <a:rPr lang="en-US" dirty="0" err="1">
                <a:solidFill>
                  <a:schemeClr val="tx1"/>
                </a:solidFill>
              </a:rPr>
              <a:t>dengan</a:t>
            </a:r>
            <a:r>
              <a:rPr lang="en-US" dirty="0">
                <a:solidFill>
                  <a:schemeClr val="tx1"/>
                </a:solidFill>
              </a:rPr>
              <a:t> </a:t>
            </a:r>
            <a:r>
              <a:rPr lang="en-US" dirty="0" err="1">
                <a:solidFill>
                  <a:schemeClr val="tx1"/>
                </a:solidFill>
              </a:rPr>
              <a:t>sebutan</a:t>
            </a:r>
            <a:r>
              <a:rPr lang="en-US" dirty="0">
                <a:solidFill>
                  <a:schemeClr val="tx1"/>
                </a:solidFill>
              </a:rPr>
              <a:t> </a:t>
            </a:r>
            <a:r>
              <a:rPr lang="en-US" dirty="0" err="1">
                <a:solidFill>
                  <a:schemeClr val="tx1"/>
                </a:solidFill>
              </a:rPr>
              <a:t>variabel</a:t>
            </a:r>
            <a:r>
              <a:rPr lang="en-US" dirty="0">
                <a:solidFill>
                  <a:schemeClr val="tx1"/>
                </a:solidFill>
              </a:rPr>
              <a:t> class.</a:t>
            </a:r>
          </a:p>
          <a:p>
            <a:pPr>
              <a:lnSpc>
                <a:spcPct val="100000"/>
              </a:lnSpc>
            </a:pPr>
            <a:r>
              <a:rPr lang="en-US" dirty="0" err="1">
                <a:solidFill>
                  <a:schemeClr val="tx1"/>
                </a:solidFill>
              </a:rPr>
              <a:t>Variabel</a:t>
            </a:r>
            <a:r>
              <a:rPr lang="en-US" dirty="0">
                <a:solidFill>
                  <a:schemeClr val="tx1"/>
                </a:solidFill>
              </a:rPr>
              <a:t> static </a:t>
            </a:r>
            <a:r>
              <a:rPr lang="en-US" dirty="0" err="1">
                <a:solidFill>
                  <a:schemeClr val="tx1"/>
                </a:solidFill>
              </a:rPr>
              <a:t>ini</a:t>
            </a:r>
            <a:r>
              <a:rPr lang="en-US" dirty="0">
                <a:solidFill>
                  <a:schemeClr val="tx1"/>
                </a:solidFill>
              </a:rPr>
              <a:t> </a:t>
            </a:r>
            <a:r>
              <a:rPr lang="en-US" dirty="0" err="1">
                <a:solidFill>
                  <a:schemeClr val="tx1"/>
                </a:solidFill>
              </a:rPr>
              <a:t>menyimpan</a:t>
            </a:r>
            <a:r>
              <a:rPr lang="en-US" dirty="0">
                <a:solidFill>
                  <a:schemeClr val="tx1"/>
                </a:solidFill>
              </a:rPr>
              <a:t> </a:t>
            </a:r>
            <a:r>
              <a:rPr lang="en-US" dirty="0" err="1">
                <a:solidFill>
                  <a:schemeClr val="tx1"/>
                </a:solidFill>
              </a:rPr>
              <a:t>nilainya</a:t>
            </a:r>
            <a:r>
              <a:rPr lang="en-US" dirty="0">
                <a:solidFill>
                  <a:schemeClr val="tx1"/>
                </a:solidFill>
              </a:rPr>
              <a:t> di </a:t>
            </a:r>
            <a:r>
              <a:rPr lang="en-US" dirty="0" err="1">
                <a:solidFill>
                  <a:schemeClr val="tx1"/>
                </a:solidFill>
              </a:rPr>
              <a:t>lokasi</a:t>
            </a:r>
            <a:r>
              <a:rPr lang="en-US" dirty="0">
                <a:solidFill>
                  <a:schemeClr val="tx1"/>
                </a:solidFill>
              </a:rPr>
              <a:t> </a:t>
            </a:r>
            <a:r>
              <a:rPr lang="en-US" dirty="0" err="1">
                <a:solidFill>
                  <a:schemeClr val="tx1"/>
                </a:solidFill>
              </a:rPr>
              <a:t>memori</a:t>
            </a:r>
            <a:r>
              <a:rPr lang="en-US" dirty="0">
                <a:solidFill>
                  <a:schemeClr val="tx1"/>
                </a:solidFill>
              </a:rPr>
              <a:t> yang </a:t>
            </a:r>
            <a:r>
              <a:rPr lang="en-US" dirty="0" err="1">
                <a:solidFill>
                  <a:schemeClr val="tx1"/>
                </a:solidFill>
              </a:rPr>
              <a:t>umum</a:t>
            </a:r>
            <a:endParaRPr lang="en-US" dirty="0">
              <a:solidFill>
                <a:schemeClr val="tx1"/>
              </a:solidFill>
            </a:endParaRPr>
          </a:p>
          <a:p>
            <a:pPr>
              <a:lnSpc>
                <a:spcPct val="100000"/>
              </a:lnSpc>
            </a:pPr>
            <a:endParaRPr lang="en-US" dirty="0"/>
          </a:p>
        </p:txBody>
      </p:sp>
      <p:sp>
        <p:nvSpPr>
          <p:cNvPr id="4" name="Subtitle 2">
            <a:extLst>
              <a:ext uri="{FF2B5EF4-FFF2-40B4-BE49-F238E27FC236}">
                <a16:creationId xmlns:a16="http://schemas.microsoft.com/office/drawing/2014/main" id="{C980A657-458E-492F-A8E6-54D5049DD019}"/>
              </a:ext>
            </a:extLst>
          </p:cNvPr>
          <p:cNvSpPr txBox="1">
            <a:spLocks/>
          </p:cNvSpPr>
          <p:nvPr/>
        </p:nvSpPr>
        <p:spPr>
          <a:xfrm>
            <a:off x="9601200" y="571500"/>
            <a:ext cx="5257800" cy="3124200"/>
          </a:xfrm>
          <a:prstGeom prst="rect">
            <a:avLst/>
          </a:prstGeom>
        </p:spPr>
        <p:txBody>
          <a:bodyPr vert="horz" lIns="91440" tIns="91440" rIns="91440" bIns="91440" rtlCol="0">
            <a:normAutofit fontScale="62500" lnSpcReduction="20000"/>
          </a:bodyPr>
          <a:lstStyle>
            <a:lvl1pPr marL="0" indent="0" algn="l" defTabSz="1371600" rtl="0" eaLnBrk="1" latinLnBrk="0" hangingPunct="1">
              <a:lnSpc>
                <a:spcPct val="120000"/>
              </a:lnSpc>
              <a:spcBef>
                <a:spcPts val="1500"/>
              </a:spcBef>
              <a:buClr>
                <a:schemeClr val="accent1"/>
              </a:buClr>
              <a:buSzPct val="100000"/>
              <a:buFont typeface="Arial" panose="020B0604020202020204" pitchFamily="34" charset="0"/>
              <a:buNone/>
              <a:defRPr sz="2700" b="0" kern="1200" cap="all" baseline="0">
                <a:solidFill>
                  <a:schemeClr val="tx1"/>
                </a:solidFill>
                <a:effectLst/>
                <a:latin typeface="+mn-lt"/>
                <a:ea typeface="+mn-ea"/>
                <a:cs typeface="+mn-cs"/>
              </a:defRPr>
            </a:lvl1pPr>
            <a:lvl2pPr marL="685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cap="none" baseline="0">
                <a:solidFill>
                  <a:schemeClr val="tx1"/>
                </a:solidFill>
                <a:effectLst/>
                <a:latin typeface="+mn-lt"/>
                <a:ea typeface="+mn-ea"/>
                <a:cs typeface="+mn-cs"/>
              </a:defRPr>
            </a:lvl2pPr>
            <a:lvl3pPr marL="1371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a:solidFill>
                  <a:schemeClr val="tx1"/>
                </a:solidFill>
                <a:effectLst/>
                <a:latin typeface="+mn-lt"/>
                <a:ea typeface="+mn-ea"/>
                <a:cs typeface="+mn-cs"/>
              </a:defRPr>
            </a:lvl3pPr>
            <a:lvl4pPr marL="2057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cap="none" baseline="0">
                <a:solidFill>
                  <a:schemeClr val="tx1"/>
                </a:solidFill>
                <a:effectLst/>
                <a:latin typeface="+mn-lt"/>
                <a:ea typeface="+mn-ea"/>
                <a:cs typeface="+mn-cs"/>
              </a:defRPr>
            </a:lvl4pPr>
            <a:lvl5pPr marL="27432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5pPr>
            <a:lvl6pPr marL="34290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6pPr>
            <a:lvl7pPr marL="4114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7pPr>
            <a:lvl8pPr marL="4800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8pPr>
            <a:lvl9pPr marL="5486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9pPr>
          </a:lstStyle>
          <a:p>
            <a:pPr>
              <a:lnSpc>
                <a:spcPct val="100000"/>
              </a:lnSpc>
            </a:pPr>
            <a:r>
              <a:rPr lang="en-US" b="1" dirty="0"/>
              <a:t>public class </a:t>
            </a:r>
            <a:r>
              <a:rPr lang="en-US" b="1" dirty="0" err="1"/>
              <a:t>Burung</a:t>
            </a:r>
            <a:r>
              <a:rPr lang="en-US" b="1" dirty="0"/>
              <a:t> {</a:t>
            </a:r>
          </a:p>
          <a:p>
            <a:pPr>
              <a:lnSpc>
                <a:spcPct val="100000"/>
              </a:lnSpc>
            </a:pPr>
            <a:r>
              <a:rPr lang="en-US" b="1" dirty="0"/>
              <a:t>    </a:t>
            </a:r>
          </a:p>
          <a:p>
            <a:pPr>
              <a:lnSpc>
                <a:spcPct val="100000"/>
              </a:lnSpc>
            </a:pPr>
            <a:r>
              <a:rPr lang="en-US" b="1" dirty="0"/>
              <a:t>    public static void </a:t>
            </a:r>
            <a:r>
              <a:rPr lang="en-US" b="1" dirty="0" err="1"/>
              <a:t>suara</a:t>
            </a:r>
            <a:r>
              <a:rPr lang="en-US" b="1" dirty="0"/>
              <a:t>()</a:t>
            </a:r>
          </a:p>
          <a:p>
            <a:pPr>
              <a:lnSpc>
                <a:spcPct val="100000"/>
              </a:lnSpc>
            </a:pPr>
            <a:r>
              <a:rPr lang="en-US" b="1" dirty="0"/>
              <a:t>    {</a:t>
            </a:r>
          </a:p>
          <a:p>
            <a:pPr>
              <a:lnSpc>
                <a:spcPct val="100000"/>
              </a:lnSpc>
            </a:pPr>
            <a:r>
              <a:rPr lang="en-US" b="1" dirty="0"/>
              <a:t>        </a:t>
            </a:r>
            <a:r>
              <a:rPr lang="en-US" b="1" dirty="0" err="1"/>
              <a:t>System.out.println</a:t>
            </a:r>
            <a:r>
              <a:rPr lang="en-US" b="1" dirty="0"/>
              <a:t>("</a:t>
            </a:r>
            <a:r>
              <a:rPr lang="en-US" b="1" dirty="0" err="1"/>
              <a:t>Cuit</a:t>
            </a:r>
            <a:r>
              <a:rPr lang="en-US" b="1" dirty="0"/>
              <a:t> </a:t>
            </a:r>
            <a:r>
              <a:rPr lang="en-US" b="1" dirty="0" err="1"/>
              <a:t>cuit</a:t>
            </a:r>
            <a:r>
              <a:rPr lang="en-US" b="1" dirty="0"/>
              <a:t> </a:t>
            </a:r>
            <a:r>
              <a:rPr lang="en-US" b="1" dirty="0" err="1"/>
              <a:t>cuit</a:t>
            </a:r>
            <a:r>
              <a:rPr lang="en-US" b="1" dirty="0"/>
              <a:t> </a:t>
            </a:r>
            <a:r>
              <a:rPr lang="en-US" b="1" dirty="0" err="1"/>
              <a:t>cuit</a:t>
            </a:r>
            <a:r>
              <a:rPr lang="en-US" b="1" dirty="0"/>
              <a:t>");</a:t>
            </a:r>
          </a:p>
          <a:p>
            <a:pPr>
              <a:lnSpc>
                <a:spcPct val="100000"/>
              </a:lnSpc>
            </a:pPr>
            <a:r>
              <a:rPr lang="en-US" b="1" dirty="0"/>
              <a:t>    }</a:t>
            </a:r>
          </a:p>
          <a:p>
            <a:pPr>
              <a:lnSpc>
                <a:spcPct val="100000"/>
              </a:lnSpc>
            </a:pPr>
            <a:r>
              <a:rPr lang="en-US" b="1" dirty="0"/>
              <a:t>}</a:t>
            </a:r>
          </a:p>
        </p:txBody>
      </p:sp>
      <p:sp>
        <p:nvSpPr>
          <p:cNvPr id="5" name="Subtitle 2">
            <a:extLst>
              <a:ext uri="{FF2B5EF4-FFF2-40B4-BE49-F238E27FC236}">
                <a16:creationId xmlns:a16="http://schemas.microsoft.com/office/drawing/2014/main" id="{57960ED6-9D53-4AA4-A602-A6AADBF1915F}"/>
              </a:ext>
            </a:extLst>
          </p:cNvPr>
          <p:cNvSpPr txBox="1">
            <a:spLocks/>
          </p:cNvSpPr>
          <p:nvPr/>
        </p:nvSpPr>
        <p:spPr>
          <a:xfrm>
            <a:off x="9906000" y="3924300"/>
            <a:ext cx="6324600" cy="4191000"/>
          </a:xfrm>
          <a:prstGeom prst="rect">
            <a:avLst/>
          </a:prstGeom>
        </p:spPr>
        <p:txBody>
          <a:bodyPr vert="horz" lIns="91440" tIns="91440" rIns="91440" bIns="91440" rtlCol="0">
            <a:noAutofit/>
          </a:bodyPr>
          <a:lstStyle>
            <a:lvl1pPr marL="0" indent="0" algn="l" defTabSz="1371600" rtl="0" eaLnBrk="1" latinLnBrk="0" hangingPunct="1">
              <a:lnSpc>
                <a:spcPct val="120000"/>
              </a:lnSpc>
              <a:spcBef>
                <a:spcPts val="1500"/>
              </a:spcBef>
              <a:buClr>
                <a:schemeClr val="accent1"/>
              </a:buClr>
              <a:buSzPct val="100000"/>
              <a:buFont typeface="Arial" panose="020B0604020202020204" pitchFamily="34" charset="0"/>
              <a:buNone/>
              <a:defRPr sz="2700" b="0" kern="1200" cap="all" baseline="0">
                <a:solidFill>
                  <a:schemeClr val="tx1"/>
                </a:solidFill>
                <a:effectLst/>
                <a:latin typeface="+mn-lt"/>
                <a:ea typeface="+mn-ea"/>
                <a:cs typeface="+mn-cs"/>
              </a:defRPr>
            </a:lvl1pPr>
            <a:lvl2pPr marL="685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cap="none" baseline="0">
                <a:solidFill>
                  <a:schemeClr val="tx1"/>
                </a:solidFill>
                <a:effectLst/>
                <a:latin typeface="+mn-lt"/>
                <a:ea typeface="+mn-ea"/>
                <a:cs typeface="+mn-cs"/>
              </a:defRPr>
            </a:lvl2pPr>
            <a:lvl3pPr marL="1371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700" kern="1200">
                <a:solidFill>
                  <a:schemeClr val="tx1"/>
                </a:solidFill>
                <a:effectLst/>
                <a:latin typeface="+mn-lt"/>
                <a:ea typeface="+mn-ea"/>
                <a:cs typeface="+mn-cs"/>
              </a:defRPr>
            </a:lvl3pPr>
            <a:lvl4pPr marL="2057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cap="none" baseline="0">
                <a:solidFill>
                  <a:schemeClr val="tx1"/>
                </a:solidFill>
                <a:effectLst/>
                <a:latin typeface="+mn-lt"/>
                <a:ea typeface="+mn-ea"/>
                <a:cs typeface="+mn-cs"/>
              </a:defRPr>
            </a:lvl4pPr>
            <a:lvl5pPr marL="27432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5pPr>
            <a:lvl6pPr marL="34290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6pPr>
            <a:lvl7pPr marL="41148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a:solidFill>
                  <a:schemeClr val="tx1"/>
                </a:solidFill>
                <a:effectLst/>
                <a:latin typeface="+mn-lt"/>
                <a:ea typeface="+mn-ea"/>
                <a:cs typeface="+mn-cs"/>
              </a:defRPr>
            </a:lvl7pPr>
            <a:lvl8pPr marL="48006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8pPr>
            <a:lvl9pPr marL="5486400" indent="0" algn="ctr" defTabSz="1371600" rtl="0" eaLnBrk="1" latinLnBrk="0" hangingPunct="1">
              <a:lnSpc>
                <a:spcPct val="120000"/>
              </a:lnSpc>
              <a:spcBef>
                <a:spcPts val="750"/>
              </a:spcBef>
              <a:buClr>
                <a:schemeClr val="accent1"/>
              </a:buClr>
              <a:buSzPct val="100000"/>
              <a:buFont typeface="Arial" panose="020B0604020202020204" pitchFamily="34" charset="0"/>
              <a:buNone/>
              <a:defRPr sz="2400" kern="1200" baseline="0">
                <a:solidFill>
                  <a:schemeClr val="tx1"/>
                </a:solidFill>
                <a:effectLst/>
                <a:latin typeface="+mn-lt"/>
                <a:ea typeface="+mn-ea"/>
                <a:cs typeface="+mn-cs"/>
              </a:defRPr>
            </a:lvl9pPr>
          </a:lstStyle>
          <a:p>
            <a:pPr>
              <a:lnSpc>
                <a:spcPct val="100000"/>
              </a:lnSpc>
            </a:pPr>
            <a:r>
              <a:rPr lang="en-US" sz="1700" b="1" dirty="0"/>
              <a:t>public class </a:t>
            </a:r>
            <a:r>
              <a:rPr lang="en-US" sz="1700" b="1" dirty="0" err="1"/>
              <a:t>StaticMethod</a:t>
            </a:r>
            <a:r>
              <a:rPr lang="en-US" sz="1700" b="1" dirty="0"/>
              <a:t> {</a:t>
            </a:r>
          </a:p>
          <a:p>
            <a:pPr>
              <a:lnSpc>
                <a:spcPct val="100000"/>
              </a:lnSpc>
            </a:pPr>
            <a:endParaRPr lang="en-US" sz="1700" b="1" dirty="0"/>
          </a:p>
          <a:p>
            <a:pPr>
              <a:lnSpc>
                <a:spcPct val="100000"/>
              </a:lnSpc>
            </a:pPr>
            <a:r>
              <a:rPr lang="en-US" sz="1700" b="1" dirty="0"/>
              <a:t>public static void main(String[] </a:t>
            </a:r>
            <a:r>
              <a:rPr lang="en-US" sz="1700" b="1" dirty="0" err="1"/>
              <a:t>args</a:t>
            </a:r>
            <a:r>
              <a:rPr lang="en-US" sz="1700" b="1" dirty="0"/>
              <a:t>) {</a:t>
            </a:r>
          </a:p>
          <a:p>
            <a:pPr>
              <a:lnSpc>
                <a:spcPct val="100000"/>
              </a:lnSpc>
            </a:pPr>
            <a:r>
              <a:rPr lang="en-US" sz="1700" b="1" dirty="0"/>
              <a:t>        // TODO code application logic here</a:t>
            </a:r>
          </a:p>
          <a:p>
            <a:pPr>
              <a:lnSpc>
                <a:spcPct val="100000"/>
              </a:lnSpc>
            </a:pPr>
            <a:r>
              <a:rPr lang="en-US" sz="1700" b="1" dirty="0"/>
              <a:t>        </a:t>
            </a:r>
          </a:p>
          <a:p>
            <a:pPr>
              <a:lnSpc>
                <a:spcPct val="100000"/>
              </a:lnSpc>
            </a:pPr>
            <a:r>
              <a:rPr lang="en-US" sz="1700" b="1" dirty="0"/>
              <a:t>        </a:t>
            </a:r>
            <a:r>
              <a:rPr lang="en-US" sz="1700" b="1" dirty="0" err="1"/>
              <a:t>Burung.suara</a:t>
            </a:r>
            <a:r>
              <a:rPr lang="en-US" sz="1700" b="1" dirty="0"/>
              <a:t>();</a:t>
            </a:r>
          </a:p>
          <a:p>
            <a:pPr>
              <a:lnSpc>
                <a:spcPct val="100000"/>
              </a:lnSpc>
            </a:pPr>
            <a:r>
              <a:rPr lang="en-US" sz="1700" b="1" dirty="0"/>
              <a:t>    }</a:t>
            </a:r>
          </a:p>
          <a:p>
            <a:pPr>
              <a:lnSpc>
                <a:spcPct val="100000"/>
              </a:lnSpc>
            </a:pPr>
            <a:r>
              <a:rPr lang="en-US" sz="1700" b="1" dirty="0"/>
              <a:t>    </a:t>
            </a:r>
          </a:p>
          <a:p>
            <a:pPr>
              <a:lnSpc>
                <a:spcPct val="100000"/>
              </a:lnSpc>
            </a:pPr>
            <a:r>
              <a:rPr lang="en-US" sz="1700" b="1" dirty="0"/>
              <a:t>}</a:t>
            </a:r>
          </a:p>
        </p:txBody>
      </p:sp>
    </p:spTree>
    <p:extLst>
      <p:ext uri="{BB962C8B-B14F-4D97-AF65-F5344CB8AC3E}">
        <p14:creationId xmlns:p14="http://schemas.microsoft.com/office/powerpoint/2010/main" val="426700643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1275</TotalTime>
  <Words>995</Words>
  <Application>Microsoft Office PowerPoint</Application>
  <PresentationFormat>Custom</PresentationFormat>
  <Paragraphs>149</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Helvetica Neue</vt:lpstr>
      <vt:lpstr>Gill Sans MT</vt:lpstr>
      <vt:lpstr>Arial</vt:lpstr>
      <vt:lpstr>-apple-system</vt:lpstr>
      <vt:lpstr>inherit</vt:lpstr>
      <vt:lpstr>Verdana</vt:lpstr>
      <vt:lpstr>DM Sans</vt:lpstr>
      <vt:lpstr>Monaco</vt:lpstr>
      <vt:lpstr>Gallery</vt:lpstr>
      <vt:lpstr>Abstract</vt:lpstr>
      <vt:lpstr>Constructor</vt:lpstr>
      <vt:lpstr>PowerPoint Presentation</vt:lpstr>
      <vt:lpstr>Di bawah ini adalah beberapa perbedaan antara interface dengan class: - Interface tidak didapat di instance-kan - Tidak memiliki konstruktor apapun - Semua method yang dimiliki oleh interface adalah method abstract - Interface tidak bisa mengandung fields instance. Fields yang  terdapat pada - interface haruslah dideklarasikan sebagai static dan final.  - Interface bisa extend ke beberapa interface (multiple)</vt:lpstr>
      <vt:lpstr>Encapsulation</vt:lpstr>
      <vt:lpstr>Polymorphism</vt:lpstr>
      <vt:lpstr>Overloading</vt:lpstr>
      <vt:lpstr>Attributes merupakan nilai data yang terdapat pada suatu object yang berasal dari class. Attributes merepresentasikan karakteristik dari suatu object. Atau Atribut adalah sesuatu yang dimiliki oleh objek. Setiap objek yang dibuat dari kelas yang sama akan memiliki atribut yang sama. </vt:lpstr>
      <vt:lpstr>Static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Matriks Dampak/Usaha Curah Pendapat Presentasi</dc:title>
  <dc:creator>Haikal Madani</dc:creator>
  <cp:lastModifiedBy>Kei Kei</cp:lastModifiedBy>
  <cp:revision>30</cp:revision>
  <dcterms:created xsi:type="dcterms:W3CDTF">2006-08-16T00:00:00Z</dcterms:created>
  <dcterms:modified xsi:type="dcterms:W3CDTF">2021-07-12T03:04:24Z</dcterms:modified>
  <dc:identifier>DAEjf7IA7MY</dc:identifier>
</cp:coreProperties>
</file>